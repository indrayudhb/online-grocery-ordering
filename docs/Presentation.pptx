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>
        <a:defRPr sz="3600" b="1" kern="1200">
          <a:solidFill>
            <a:srgbClr val="1B5E20"/>
          </a:solidFill>
          <a:latin typeface="Calibri"/>
        </a:defRPr>
      </a:lvl1pPr>
    </p:titleStyle>
    <p:bodyStyle>
      <a:lvl1pPr algn="l" defTabSz="914400">
        <a:defRPr sz="1800" kern="1200">
          <a:solidFill>
            <a:srgbClr val="2D3436"/>
          </a:solidFill>
          <a:latin typeface="Calibri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1"/>
          <p:cNvSpPr/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" name="AccentBar2"/>
          <p:cNvSpPr/>
          <p:nvPr/>
        </p:nvSpPr>
        <p:spPr>
          <a:xfrm>
            <a:off x="0" y="200000"/>
            <a:ext cx="12192000" cy="80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AccentBar3"/>
          <p:cNvSpPr/>
          <p:nvPr/>
        </p:nvSpPr>
        <p:spPr>
          <a:xfrm>
            <a:off x="0" y="280000"/>
            <a:ext cx="12192000" cy="4000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0" name="HeroBg"/>
          <p:cNvSpPr/>
          <p:nvPr/>
        </p:nvSpPr>
        <p:spPr>
          <a:xfrm>
            <a:off x="0" y="1500000"/>
            <a:ext cx="12192000" cy="35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1" name="HeroAccent"/>
          <p:cNvSpPr/>
          <p:nvPr/>
        </p:nvSpPr>
        <p:spPr>
          <a:xfrm>
            <a:off x="0" y="1500000"/>
            <a:ext cx="60000" cy="3500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2" name="MainTitle"/>
          <p:cNvSpPr txBox="1"/>
          <p:nvPr/>
        </p:nvSpPr>
        <p:spPr>
          <a:xfrm>
            <a:off x="500000" y="1900000"/>
            <a:ext cx="112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ctr">
              <a:buNone/>
            </a:pPr>
            <a:r>
              <a:rPr lang="en-US" sz="5400" b="1" dirty="0">
                <a:solidFill>
                  <a:srgbClr val="1B5E20"/>
                </a:solidFill>
                <a:latin typeface="Calibri"/>
              </a:rPr>
              <a:t>Online Grocery Ordering Platform</a:t>
            </a:r>
          </a:p>
        </p:txBody>
      </p:sp>
      <p:sp>
        <p:nvSpPr>
          <p:cNvPr id="53" name="Subtitle"/>
          <p:cNvSpPr txBox="1"/>
          <p:nvPr/>
        </p:nvSpPr>
        <p:spPr>
          <a:xfrm>
            <a:off x="500000" y="31000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ctr">
              <a:buNone/>
            </a:pPr>
            <a:r>
              <a:rPr lang="en-US" sz="2400" dirty="0">
                <a:solidFill>
                  <a:srgbClr val="2E7D32"/>
                </a:solidFill>
                <a:latin typeface="Calibri"/>
              </a:rPr>
              <a:t>JSP + Servlets  |  Apache Tomcat 9.0.71  |  SQLite</a:t>
            </a:r>
          </a:p>
        </p:txBody>
      </p:sp>
      <p:sp>
        <p:nvSpPr>
          <p:cNvPr id="54" name="Tagline"/>
          <p:cNvSpPr txBox="1"/>
          <p:nvPr/>
        </p:nvSpPr>
        <p:spPr>
          <a:xfrm>
            <a:off x="500000" y="3800000"/>
            <a:ext cx="112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ctr">
              <a:buNone/>
            </a:pPr>
            <a:r>
              <a:rPr lang="en-US" sz="1800" i="1" dirty="0">
                <a:solidFill>
                  <a:srgbClr val="636E72"/>
                </a:solidFill>
                <a:latin typeface="Calibri"/>
              </a:rPr>
              <a:t>Self-hosted   .   Zero per-sale fees   .   Full data ownership</a:t>
            </a:r>
          </a:p>
        </p:txBody>
      </p:sp>
      <p:sp>
        <p:nvSpPr>
          <p:cNvPr id="55" name="TeamBlock"/>
          <p:cNvSpPr txBox="1"/>
          <p:nvPr/>
        </p:nvSpPr>
        <p:spPr>
          <a:xfrm>
            <a:off x="500000" y="5400000"/>
            <a:ext cx="11200000" cy="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ctr">
              <a:buNone/>
            </a:pPr>
            <a:r>
              <a:rPr lang="en-US" sz="1600" b="1" dirty="0">
                <a:solidFill>
                  <a:srgbClr val="2D3436"/>
                </a:solidFill>
                <a:latin typeface="Calibri"/>
              </a:rPr>
              <a:t>Presented by: Team of 6</a:t>
            </a:r>
          </a:p>
          <a:p>
            <a:pPr algn="ctr">
              <a:buNone/>
            </a:pPr>
            <a:r>
              <a:rPr lang="en-US" sz="1400" dirty="0">
                <a:solidFill>
                  <a:srgbClr val="636E72"/>
                </a:solidFill>
                <a:latin typeface="Calibri"/>
              </a:rPr>
              <a:t>Date: ____________________</a:t>
            </a:r>
          </a:p>
        </p:txBody>
      </p:sp>
      <p:sp>
        <p:nvSpPr>
          <p:cNvPr id="996" name="FooterBar"/>
          <p:cNvSpPr/>
          <p:nvPr/>
        </p:nvSpPr>
        <p:spPr>
          <a:xfrm>
            <a:off x="0" y="6778000"/>
            <a:ext cx="12192000" cy="8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98" name="Footer"/>
          <p:cNvSpPr txBox="1"/>
          <p:nvPr/>
        </p:nvSpPr>
        <p:spPr>
          <a:xfrm>
            <a:off x="500000" y="6378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r">
              <a:buNone/>
            </a:pPr>
            <a:r>
              <a:rPr lang="en-US" sz="1100" dirty="0">
                <a:solidFill>
                  <a:srgbClr val="636E72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1"/>
          <p:cNvSpPr/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" name="AccentBar2"/>
          <p:cNvSpPr/>
          <p:nvPr/>
        </p:nvSpPr>
        <p:spPr>
          <a:xfrm>
            <a:off x="0" y="200000"/>
            <a:ext cx="12192000" cy="80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AccentBar3"/>
          <p:cNvSpPr/>
          <p:nvPr/>
        </p:nvSpPr>
        <p:spPr>
          <a:xfrm>
            <a:off x="0" y="280000"/>
            <a:ext cx="12192000" cy="4000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500000" y="500000"/>
            <a:ext cx="112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3600" b="1" dirty="0">
                <a:solidFill>
                  <a:srgbClr val="1B5E20"/>
                </a:solidFill>
                <a:latin typeface="Calibri"/>
              </a:rPr>
              <a:t>Problem &amp; Vision</a:t>
            </a:r>
          </a:p>
        </p:txBody>
      </p:sp>
      <p:sp>
        <p:nvSpPr>
          <p:cNvPr id="60" name="Card"/>
          <p:cNvSpPr/>
          <p:nvPr/>
        </p:nvSpPr>
        <p:spPr>
          <a:xfrm>
            <a:off x="500000" y="1700000"/>
            <a:ext cx="5400000" cy="4400000"/>
          </a:xfrm>
          <a:prstGeom prst="rect">
            <a:avLst/>
          </a:prstGeom>
          <a:solidFill>
            <a:srgbClr val="FFFFFF"/>
          </a:solidFill>
          <a:ln w="0">
            <a:solidFill>
              <a:srgbClr val="E8F5E9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61" name="CardTop"/>
          <p:cNvSpPr/>
          <p:nvPr/>
        </p:nvSpPr>
        <p:spPr>
          <a:xfrm>
            <a:off x="500000" y="1700000"/>
            <a:ext cx="5400000" cy="80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62" name="ProbTitle"/>
          <p:cNvSpPr txBox="1"/>
          <p:nvPr/>
        </p:nvSpPr>
        <p:spPr>
          <a:xfrm>
            <a:off x="700000" y="1850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2400" b="1" dirty="0">
                <a:solidFill>
                  <a:srgbClr val="FF7043"/>
                </a:solidFill>
                <a:latin typeface="Calibri"/>
              </a:rPr>
              <a:t>The Problem</a:t>
            </a:r>
          </a:p>
        </p:txBody>
      </p:sp>
      <p:sp>
        <p:nvSpPr>
          <p:cNvPr id="63" name="ProbBody"/>
          <p:cNvSpPr txBox="1"/>
          <p:nvPr/>
        </p:nvSpPr>
        <p:spPr>
          <a:xfrm>
            <a:off x="700000" y="2400000"/>
            <a:ext cx="5000000" cy="3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 indent="-228600" marL="228600">
              <a:buFont typeface="Arial"/>
              <a:buChar char="•"/>
            </a:pPr>
            <a:r>
              <a:rPr lang="en-US" sz="1500" dirty="0">
                <a:solidFill>
                  <a:srgbClr val="2D3436"/>
                </a:solidFill>
                <a:latin typeface="Calibri"/>
              </a:rPr>
              <a:t>Customers want a fast, reliable way to order groceries online.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D3436"/>
                </a:solidFill>
                <a:latin typeface="Calibri"/>
              </a:rPr>
              <a:t>Small store owners want to digitise their catalogue without paying 1.5-3% per sale to a SaaS platform.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D3436"/>
                </a:solidFill>
                <a:latin typeface="Calibri"/>
              </a:rPr>
              <a:t>Existing options force a trade-off: cheap to build but generic, or grocery-specific but expensive.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D3436"/>
                </a:solidFill>
                <a:latin typeface="Calibri"/>
              </a:rPr>
              <a:t>Stock accuracy and order integrity matter more than fancy themes.</a:t>
            </a:r>
          </a:p>
        </p:txBody>
      </p:sp>
      <p:sp>
        <p:nvSpPr>
          <p:cNvPr id="70" name="Card"/>
          <p:cNvSpPr/>
          <p:nvPr/>
        </p:nvSpPr>
        <p:spPr>
          <a:xfrm>
            <a:off x="6300000" y="1700000"/>
            <a:ext cx="5400000" cy="4400000"/>
          </a:xfrm>
          <a:prstGeom prst="rect">
            <a:avLst/>
          </a:prstGeom>
          <a:solidFill>
            <a:srgbClr val="FFFFFF"/>
          </a:solidFill>
          <a:ln w="0">
            <a:solidFill>
              <a:srgbClr val="E8F5E9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71" name="CardTop"/>
          <p:cNvSpPr/>
          <p:nvPr/>
        </p:nvSpPr>
        <p:spPr>
          <a:xfrm>
            <a:off x="6300000" y="1700000"/>
            <a:ext cx="5400000" cy="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72" name="VisTitle"/>
          <p:cNvSpPr txBox="1"/>
          <p:nvPr/>
        </p:nvSpPr>
        <p:spPr>
          <a:xfrm>
            <a:off x="6500000" y="1850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2400" b="1" dirty="0">
                <a:solidFill>
                  <a:srgbClr val="1B5E20"/>
                </a:solidFill>
                <a:latin typeface="Calibri"/>
              </a:rPr>
              <a:t>Our Vision</a:t>
            </a:r>
          </a:p>
        </p:txBody>
      </p:sp>
      <p:sp>
        <p:nvSpPr>
          <p:cNvPr id="73" name="VisBody"/>
          <p:cNvSpPr txBox="1"/>
          <p:nvPr/>
        </p:nvSpPr>
        <p:spPr>
          <a:xfrm>
            <a:off x="6500000" y="2400000"/>
            <a:ext cx="5000000" cy="3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 indent="-228600" marL="228600">
              <a:buFont typeface="Arial"/>
              <a:buChar char="•"/>
            </a:pPr>
            <a:r>
              <a:rPr lang="en-US" sz="1500" dirty="0">
                <a:solidFill>
                  <a:srgbClr val="2D3436"/>
                </a:solidFill>
                <a:latin typeface="Calibri"/>
              </a:rPr>
              <a:t>Zero per-transaction fees once deployed.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D3436"/>
                </a:solidFill>
                <a:latin typeface="Calibri"/>
              </a:rPr>
              <a:t>100% data ownership: a single SQLite file the client controls.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D3436"/>
                </a:solidFill>
                <a:latin typeface="Calibri"/>
              </a:rPr>
              <a:t>Runs on modest hardware - even a Raspberry-Pi-class machine.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D3436"/>
                </a:solidFill>
                <a:latin typeface="Calibri"/>
              </a:rPr>
              <a:t>Built on Java EE / JDBC standards - any Java developer can extend it.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D3436"/>
                </a:solidFill>
                <a:latin typeface="Calibri"/>
              </a:rPr>
              <a:t>Grocery-specific features baked in.</a:t>
            </a:r>
          </a:p>
        </p:txBody>
      </p:sp>
      <p:sp>
        <p:nvSpPr>
          <p:cNvPr id="996" name="FooterBar"/>
          <p:cNvSpPr/>
          <p:nvPr/>
        </p:nvSpPr>
        <p:spPr>
          <a:xfrm>
            <a:off x="0" y="6778000"/>
            <a:ext cx="12192000" cy="8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98" name="Footer"/>
          <p:cNvSpPr txBox="1"/>
          <p:nvPr/>
        </p:nvSpPr>
        <p:spPr>
          <a:xfrm>
            <a:off x="500000" y="6378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r">
              <a:buNone/>
            </a:pPr>
            <a:r>
              <a:rPr lang="en-US" sz="1100" dirty="0">
                <a:solidFill>
                  <a:srgbClr val="636E72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1"/>
          <p:cNvSpPr/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" name="AccentBar2"/>
          <p:cNvSpPr/>
          <p:nvPr/>
        </p:nvSpPr>
        <p:spPr>
          <a:xfrm>
            <a:off x="0" y="200000"/>
            <a:ext cx="12192000" cy="80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AccentBar3"/>
          <p:cNvSpPr/>
          <p:nvPr/>
        </p:nvSpPr>
        <p:spPr>
          <a:xfrm>
            <a:off x="0" y="280000"/>
            <a:ext cx="12192000" cy="4000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500000" y="500000"/>
            <a:ext cx="112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3600" b="1" dirty="0">
                <a:solidFill>
                  <a:srgbClr val="1B5E20"/>
                </a:solidFill>
                <a:latin typeface="Calibri"/>
              </a:rPr>
              <a:t>Features at a Glance</a:t>
            </a:r>
          </a:p>
        </p:txBody>
      </p:sp>
      <p:sp>
        <p:nvSpPr>
          <p:cNvPr id="80" name="Card"/>
          <p:cNvSpPr/>
          <p:nvPr/>
        </p:nvSpPr>
        <p:spPr>
          <a:xfrm>
            <a:off x="500000" y="1700000"/>
            <a:ext cx="5400000" cy="4400000"/>
          </a:xfrm>
          <a:prstGeom prst="rect">
            <a:avLst/>
          </a:prstGeom>
          <a:solidFill>
            <a:srgbClr val="FFFFFF"/>
          </a:solidFill>
          <a:ln w="0">
            <a:solidFill>
              <a:srgbClr val="E8F5E9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1" name="CardTop"/>
          <p:cNvSpPr/>
          <p:nvPr/>
        </p:nvSpPr>
        <p:spPr>
          <a:xfrm>
            <a:off x="500000" y="1700000"/>
            <a:ext cx="5400000" cy="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2" name="CustTitle"/>
          <p:cNvSpPr txBox="1"/>
          <p:nvPr/>
        </p:nvSpPr>
        <p:spPr>
          <a:xfrm>
            <a:off x="700000" y="1850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2400" b="1" dirty="0">
                <a:solidFill>
                  <a:srgbClr val="1B5E20"/>
                </a:solidFill>
                <a:latin typeface="Calibri"/>
              </a:rPr>
              <a:t>Customer Side</a:t>
            </a:r>
          </a:p>
        </p:txBody>
      </p:sp>
      <p:sp>
        <p:nvSpPr>
          <p:cNvPr id="83" name="CustBody"/>
          <p:cNvSpPr txBox="1"/>
          <p:nvPr/>
        </p:nvSpPr>
        <p:spPr>
          <a:xfrm>
            <a:off x="700000" y="2400000"/>
            <a:ext cx="5000000" cy="3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 indent="-228600" marL="228600"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Self-service registration with email validation</a:t>
            </a:r>
          </a:p>
          <a:p>
            <a:pPr algn="l" indent="-228600" marL="228600">
              <a:spcBef>
                <a:spcPts val="350"/>
              </a:spcBef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Browse catalogue + name search</a:t>
            </a:r>
          </a:p>
          <a:p>
            <a:pPr algn="l" indent="-228600" marL="228600">
              <a:spcBef>
                <a:spcPts val="350"/>
              </a:spcBef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Persistent cart / wishlist across sessions</a:t>
            </a:r>
          </a:p>
          <a:p>
            <a:pPr algn="l" indent="-228600" marL="228600">
              <a:spcBef>
                <a:spcPts val="350"/>
              </a:spcBef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Place order with dummy payment (COD / UPI / Card)</a:t>
            </a:r>
          </a:p>
          <a:p>
            <a:pPr algn="l" indent="-228600" marL="228600">
              <a:spcBef>
                <a:spcPts val="350"/>
              </a:spcBef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Atomic stock decrement on order placement</a:t>
            </a:r>
          </a:p>
          <a:p>
            <a:pPr algn="l" indent="-228600" marL="228600">
              <a:spcBef>
                <a:spcPts val="350"/>
              </a:spcBef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View past order history any time</a:t>
            </a:r>
          </a:p>
          <a:p>
            <a:pPr algn="l" indent="-228600" marL="228600">
              <a:spcBef>
                <a:spcPts val="350"/>
              </a:spcBef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Update profile (email change syncs login)</a:t>
            </a:r>
          </a:p>
          <a:p>
            <a:pPr algn="l" indent="-228600" marL="228600">
              <a:spcBef>
                <a:spcPts val="350"/>
              </a:spcBef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Soft-deactivate / reactivate account</a:t>
            </a:r>
          </a:p>
        </p:txBody>
      </p:sp>
      <p:sp>
        <p:nvSpPr>
          <p:cNvPr id="90" name="Card"/>
          <p:cNvSpPr/>
          <p:nvPr/>
        </p:nvSpPr>
        <p:spPr>
          <a:xfrm>
            <a:off x="6300000" y="1700000"/>
            <a:ext cx="5400000" cy="4400000"/>
          </a:xfrm>
          <a:prstGeom prst="rect">
            <a:avLst/>
          </a:prstGeom>
          <a:solidFill>
            <a:srgbClr val="FFFFFF"/>
          </a:solidFill>
          <a:ln w="0">
            <a:solidFill>
              <a:srgbClr val="E8F5E9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1" name="CardTop"/>
          <p:cNvSpPr/>
          <p:nvPr/>
        </p:nvSpPr>
        <p:spPr>
          <a:xfrm>
            <a:off x="6300000" y="1700000"/>
            <a:ext cx="5400000" cy="80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2" name="AdmTitle"/>
          <p:cNvSpPr txBox="1"/>
          <p:nvPr/>
        </p:nvSpPr>
        <p:spPr>
          <a:xfrm>
            <a:off x="6500000" y="1850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2400" b="1" dirty="0">
                <a:solidFill>
                  <a:srgbClr val="FF7043"/>
                </a:solidFill>
                <a:latin typeface="Calibri"/>
              </a:rPr>
              <a:t>Admin Side</a:t>
            </a:r>
          </a:p>
        </p:txBody>
      </p:sp>
      <p:sp>
        <p:nvSpPr>
          <p:cNvPr id="93" name="AdmBody"/>
          <p:cNvSpPr txBox="1"/>
          <p:nvPr/>
        </p:nvSpPr>
        <p:spPr>
          <a:xfrm>
            <a:off x="6500000" y="2400000"/>
            <a:ext cx="5000000" cy="3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 indent="-228600" marL="228600"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Login with seeded super-admin (root@grocery.local)</a:t>
            </a:r>
          </a:p>
          <a:p>
            <a:pPr algn="l" indent="-228600" marL="228600">
              <a:spcBef>
                <a:spcPts val="350"/>
              </a:spcBef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Add product with form validation</a:t>
            </a:r>
          </a:p>
          <a:p>
            <a:pPr algn="l" indent="-228600" marL="228600">
              <a:spcBef>
                <a:spcPts val="350"/>
              </a:spcBef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Bulk CSV upload - 40 products in one click</a:t>
            </a:r>
          </a:p>
          <a:p>
            <a:pPr algn="l" indent="-228600" marL="228600">
              <a:spcBef>
                <a:spcPts val="350"/>
              </a:spcBef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Edit / delete products from a single table</a:t>
            </a:r>
          </a:p>
          <a:p>
            <a:pPr algn="l" indent="-228600" marL="228600">
              <a:spcBef>
                <a:spcPts val="350"/>
              </a:spcBef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Add additional admin accounts</a:t>
            </a:r>
          </a:p>
          <a:p>
            <a:pPr algn="l" indent="-228600" marL="228600">
              <a:spcBef>
                <a:spcPts val="350"/>
              </a:spcBef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All admin pages role-protected (AuthFilter)</a:t>
            </a:r>
          </a:p>
          <a:p>
            <a:pPr algn="l" indent="-228600" marL="228600">
              <a:spcBef>
                <a:spcPts val="350"/>
              </a:spcBef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Cascading product delete (cleans wishlist + orders)</a:t>
            </a:r>
          </a:p>
          <a:p>
            <a:pPr algn="l" indent="-228600" marL="228600">
              <a:spcBef>
                <a:spcPts val="350"/>
              </a:spcBef>
              <a:buFont typeface="Arial"/>
              <a:buChar char="•"/>
            </a:pPr>
            <a:r>
              <a:rPr lang="en-US" sz="1400" b="1" dirty="0">
                <a:solidFill>
                  <a:srgbClr val="1B5E20"/>
                </a:solidFill>
                <a:latin typeface="Calibri"/>
              </a:rPr>
              <a:t>US001 - US013 + 5 web stories - all delivered</a:t>
            </a:r>
          </a:p>
        </p:txBody>
      </p:sp>
      <p:sp>
        <p:nvSpPr>
          <p:cNvPr id="996" name="FooterBar"/>
          <p:cNvSpPr/>
          <p:nvPr/>
        </p:nvSpPr>
        <p:spPr>
          <a:xfrm>
            <a:off x="0" y="6778000"/>
            <a:ext cx="12192000" cy="8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98" name="Footer"/>
          <p:cNvSpPr txBox="1"/>
          <p:nvPr/>
        </p:nvSpPr>
        <p:spPr>
          <a:xfrm>
            <a:off x="500000" y="6378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r">
              <a:buNone/>
            </a:pPr>
            <a:r>
              <a:rPr lang="en-US" sz="1100" dirty="0">
                <a:solidFill>
                  <a:srgbClr val="636E72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1"/>
          <p:cNvSpPr/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" name="AccentBar2"/>
          <p:cNvSpPr/>
          <p:nvPr/>
        </p:nvSpPr>
        <p:spPr>
          <a:xfrm>
            <a:off x="0" y="200000"/>
            <a:ext cx="12192000" cy="80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AccentBar3"/>
          <p:cNvSpPr/>
          <p:nvPr/>
        </p:nvSpPr>
        <p:spPr>
          <a:xfrm>
            <a:off x="0" y="280000"/>
            <a:ext cx="12192000" cy="4000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500000" y="500000"/>
            <a:ext cx="112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3600" b="1" dirty="0">
                <a:solidFill>
                  <a:srgbClr val="1B5E20"/>
                </a:solidFill>
                <a:latin typeface="Calibri"/>
              </a:rPr>
              <a:t>Architecture &amp; Working Principles</a:t>
            </a:r>
          </a:p>
        </p:txBody>
      </p:sp>
      <p:sp>
        <p:nvSpPr>
          <p:cNvPr id="100" name="Browser"/>
          <p:cNvSpPr/>
          <p:nvPr/>
        </p:nvSpPr>
        <p:spPr>
          <a:xfrm>
            <a:off x="700000" y="1900000"/>
            <a:ext cx="3000000" cy="1100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01" name="BrowserT"/>
          <p:cNvSpPr txBox="1"/>
          <p:nvPr/>
        </p:nvSpPr>
        <p:spPr>
          <a:xfrm>
            <a:off x="700000" y="210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102" name="BrowserT2"/>
          <p:cNvSpPr txBox="1"/>
          <p:nvPr/>
        </p:nvSpPr>
        <p:spPr>
          <a:xfrm>
            <a:off x="700000" y="2450000"/>
            <a:ext cx="30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JSP-rendered HTML + CSS + JS</a:t>
            </a:r>
          </a:p>
        </p:txBody>
      </p:sp>
      <p:sp>
        <p:nvSpPr>
          <p:cNvPr id="110" name="Server"/>
          <p:cNvSpPr/>
          <p:nvPr/>
        </p:nvSpPr>
        <p:spPr>
          <a:xfrm>
            <a:off x="4596000" y="1900000"/>
            <a:ext cx="3000000" cy="110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11" name="ServerT"/>
          <p:cNvSpPr txBox="1"/>
          <p:nvPr/>
        </p:nvSpPr>
        <p:spPr>
          <a:xfrm>
            <a:off x="4596000" y="210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APP SERVER</a:t>
            </a:r>
          </a:p>
        </p:txBody>
      </p:sp>
      <p:sp>
        <p:nvSpPr>
          <p:cNvPr id="112" name="ServerT2"/>
          <p:cNvSpPr txBox="1"/>
          <p:nvPr/>
        </p:nvSpPr>
        <p:spPr>
          <a:xfrm>
            <a:off x="4596000" y="2450000"/>
            <a:ext cx="30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Servlets + AuthFilter + DAOs</a:t>
            </a:r>
          </a:p>
        </p:txBody>
      </p:sp>
      <p:sp>
        <p:nvSpPr>
          <p:cNvPr id="120" name="DB"/>
          <p:cNvSpPr/>
          <p:nvPr/>
        </p:nvSpPr>
        <p:spPr>
          <a:xfrm>
            <a:off x="8492000" y="1900000"/>
            <a:ext cx="3000000" cy="110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21" name="DBT"/>
          <p:cNvSpPr txBox="1"/>
          <p:nvPr/>
        </p:nvSpPr>
        <p:spPr>
          <a:xfrm>
            <a:off x="8492000" y="210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22" name="DBT2"/>
          <p:cNvSpPr txBox="1"/>
          <p:nvPr/>
        </p:nvSpPr>
        <p:spPr>
          <a:xfrm>
            <a:off x="8492000" y="2450000"/>
            <a:ext cx="30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SQLite via JDBC (5 tables)</a:t>
            </a:r>
          </a:p>
        </p:txBody>
      </p:sp>
      <p:sp>
        <p:nvSpPr>
          <p:cNvPr id="130" name="ProtoHTTP"/>
          <p:cNvSpPr txBox="1"/>
          <p:nvPr/>
        </p:nvSpPr>
        <p:spPr>
          <a:xfrm>
            <a:off x="3700000" y="2250000"/>
            <a:ext cx="9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636E72"/>
                </a:solidFill>
                <a:latin typeface="Calibri"/>
              </a:rPr>
              <a:t>&lt;-HTTP-&gt;</a:t>
            </a:r>
          </a:p>
        </p:txBody>
      </p:sp>
      <p:sp>
        <p:nvSpPr>
          <p:cNvPr id="131" name="ProtoJDBC"/>
          <p:cNvSpPr txBox="1"/>
          <p:nvPr/>
        </p:nvSpPr>
        <p:spPr>
          <a:xfrm>
            <a:off x="7596000" y="2250000"/>
            <a:ext cx="9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636E72"/>
                </a:solidFill>
                <a:latin typeface="Calibri"/>
              </a:rPr>
              <a:t>&lt;-JDBC-&gt;</a:t>
            </a:r>
          </a:p>
        </p:txBody>
      </p:sp>
      <p:sp>
        <p:nvSpPr>
          <p:cNvPr id="140" name="Card"/>
          <p:cNvSpPr/>
          <p:nvPr/>
        </p:nvSpPr>
        <p:spPr>
          <a:xfrm>
            <a:off x="500000" y="3500000"/>
            <a:ext cx="5400000" cy="2600000"/>
          </a:xfrm>
          <a:prstGeom prst="rect">
            <a:avLst/>
          </a:prstGeom>
          <a:solidFill>
            <a:srgbClr val="FFFFFF"/>
          </a:solidFill>
          <a:ln w="0">
            <a:solidFill>
              <a:srgbClr val="E8F5E9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41" name="CardTop"/>
          <p:cNvSpPr/>
          <p:nvPr/>
        </p:nvSpPr>
        <p:spPr>
          <a:xfrm>
            <a:off x="500000" y="3500000"/>
            <a:ext cx="5400000" cy="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42" name="MVCT"/>
          <p:cNvSpPr txBox="1"/>
          <p:nvPr/>
        </p:nvSpPr>
        <p:spPr>
          <a:xfrm>
            <a:off x="700000" y="3620000"/>
            <a:ext cx="50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2000" b="1" dirty="0">
                <a:solidFill>
                  <a:srgbClr val="1B5E20"/>
                </a:solidFill>
                <a:latin typeface="Calibri"/>
              </a:rPr>
              <a:t>MVC Pattern</a:t>
            </a:r>
          </a:p>
        </p:txBody>
      </p:sp>
      <p:sp>
        <p:nvSpPr>
          <p:cNvPr id="143" name="MVCBody"/>
          <p:cNvSpPr txBox="1"/>
          <p:nvPr/>
        </p:nvSpPr>
        <p:spPr>
          <a:xfrm>
            <a:off x="700000" y="4050000"/>
            <a:ext cx="5000000" cy="1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 indent="-228600" marL="228600">
              <a:buFont typeface="Arial"/>
              <a:buChar char="•"/>
            </a:pPr>
            <a:r>
              <a:rPr lang="en-US" sz="1400" b="1" dirty="0">
                <a:solidFill>
                  <a:srgbClr val="1B5E20"/>
                </a:solidFill>
                <a:latin typeface="Calibri"/>
              </a:rPr>
              <a:t>View </a:t>
            </a:r>
            <a:r>
              <a:rPr lang="en-US" sz="1400" dirty="0">
                <a:solidFill>
                  <a:srgbClr val="2D3436"/>
                </a:solidFill>
                <a:latin typeface="Calibri"/>
              </a:rPr>
              <a:t>- the JSPs the user actually sees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400" b="1" dirty="0">
                <a:solidFill>
                  <a:srgbClr val="1B5E20"/>
                </a:solidFill>
                <a:latin typeface="Calibri"/>
              </a:rPr>
              <a:t>Controller </a:t>
            </a:r>
            <a:r>
              <a:rPr lang="en-US" sz="1400" dirty="0">
                <a:solidFill>
                  <a:srgbClr val="2D3436"/>
                </a:solidFill>
                <a:latin typeface="Calibri"/>
              </a:rPr>
              <a:t>- Servlets + AuthFilter, decide what each click does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400" b="1" dirty="0">
                <a:solidFill>
                  <a:srgbClr val="1B5E20"/>
                </a:solidFill>
                <a:latin typeface="Calibri"/>
              </a:rPr>
              <a:t>Model </a:t>
            </a:r>
            <a:r>
              <a:rPr lang="en-US" sz="1400" dirty="0">
                <a:solidFill>
                  <a:srgbClr val="2D3436"/>
                </a:solidFill>
                <a:latin typeface="Calibri"/>
              </a:rPr>
              <a:t>- POJOs + DAOs talking to the database</a:t>
            </a:r>
          </a:p>
        </p:txBody>
      </p:sp>
      <p:sp>
        <p:nvSpPr>
          <p:cNvPr id="150" name="Card"/>
          <p:cNvSpPr/>
          <p:nvPr/>
        </p:nvSpPr>
        <p:spPr>
          <a:xfrm>
            <a:off x="6300000" y="3500000"/>
            <a:ext cx="5400000" cy="2600000"/>
          </a:xfrm>
          <a:prstGeom prst="rect">
            <a:avLst/>
          </a:prstGeom>
          <a:solidFill>
            <a:srgbClr val="FFFFFF"/>
          </a:solidFill>
          <a:ln w="0">
            <a:solidFill>
              <a:srgbClr val="E8F5E9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51" name="CardTop"/>
          <p:cNvSpPr/>
          <p:nvPr/>
        </p:nvSpPr>
        <p:spPr>
          <a:xfrm>
            <a:off x="6300000" y="3500000"/>
            <a:ext cx="5400000" cy="80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52" name="PrincT"/>
          <p:cNvSpPr txBox="1"/>
          <p:nvPr/>
        </p:nvSpPr>
        <p:spPr>
          <a:xfrm>
            <a:off x="6500000" y="3620000"/>
            <a:ext cx="50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2000" b="1" dirty="0">
                <a:solidFill>
                  <a:srgbClr val="FF7043"/>
                </a:solidFill>
                <a:latin typeface="Calibri"/>
              </a:rPr>
              <a:t>Three Principles</a:t>
            </a:r>
          </a:p>
        </p:txBody>
      </p:sp>
      <p:sp>
        <p:nvSpPr>
          <p:cNvPr id="153" name="PrincBody"/>
          <p:cNvSpPr txBox="1"/>
          <p:nvPr/>
        </p:nvSpPr>
        <p:spPr>
          <a:xfrm>
            <a:off x="6500000" y="4050000"/>
            <a:ext cx="5000000" cy="1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 indent="-228600" marL="228600"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Separation of concerns - UI never talks to DB directly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Transactional integrity - order + stock + cart updates are atomic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/>
              </a:rPr>
              <a:t>Defence in depth - same rule enforced at form, app, and DB level</a:t>
            </a:r>
          </a:p>
        </p:txBody>
      </p:sp>
      <p:sp>
        <p:nvSpPr>
          <p:cNvPr id="996" name="FooterBar"/>
          <p:cNvSpPr/>
          <p:nvPr/>
        </p:nvSpPr>
        <p:spPr>
          <a:xfrm>
            <a:off x="0" y="6778000"/>
            <a:ext cx="12192000" cy="8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98" name="Footer"/>
          <p:cNvSpPr txBox="1"/>
          <p:nvPr/>
        </p:nvSpPr>
        <p:spPr>
          <a:xfrm>
            <a:off x="500000" y="6378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r">
              <a:buNone/>
            </a:pPr>
            <a:r>
              <a:rPr lang="en-US" sz="1100" dirty="0">
                <a:solidFill>
                  <a:srgbClr val="636E72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1"/>
          <p:cNvSpPr/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" name="AccentBar2"/>
          <p:cNvSpPr/>
          <p:nvPr/>
        </p:nvSpPr>
        <p:spPr>
          <a:xfrm>
            <a:off x="0" y="200000"/>
            <a:ext cx="12192000" cy="80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AccentBar3"/>
          <p:cNvSpPr/>
          <p:nvPr/>
        </p:nvSpPr>
        <p:spPr>
          <a:xfrm>
            <a:off x="0" y="280000"/>
            <a:ext cx="12192000" cy="4000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500000" y="500000"/>
            <a:ext cx="112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3600" b="1" dirty="0">
                <a:solidFill>
                  <a:srgbClr val="1B5E20"/>
                </a:solidFill>
                <a:latin typeface="Calibri"/>
              </a:rPr>
              <a:t>Live Demo Walkthrough</a:t>
            </a:r>
          </a:p>
        </p:txBody>
      </p:sp>
      <p:sp>
        <p:nvSpPr>
          <p:cNvPr id="160" name="Card"/>
          <p:cNvSpPr/>
          <p:nvPr/>
        </p:nvSpPr>
        <p:spPr>
          <a:xfrm>
            <a:off x="500000" y="1700000"/>
            <a:ext cx="5400000" cy="4400000"/>
          </a:xfrm>
          <a:prstGeom prst="rect">
            <a:avLst/>
          </a:prstGeom>
          <a:solidFill>
            <a:srgbClr val="FFFFFF"/>
          </a:solidFill>
          <a:ln w="0">
            <a:solidFill>
              <a:srgbClr val="E8F5E9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61" name="CardTop"/>
          <p:cNvSpPr/>
          <p:nvPr/>
        </p:nvSpPr>
        <p:spPr>
          <a:xfrm>
            <a:off x="500000" y="1700000"/>
            <a:ext cx="5400000" cy="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62" name="CustTitle"/>
          <p:cNvSpPr txBox="1"/>
          <p:nvPr/>
        </p:nvSpPr>
        <p:spPr>
          <a:xfrm>
            <a:off x="700000" y="1850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2400" b="1" dirty="0">
                <a:solidFill>
                  <a:srgbClr val="1B5E20"/>
                </a:solidFill>
                <a:latin typeface="Calibri"/>
              </a:rPr>
              <a:t>Customer Journey</a:t>
            </a:r>
          </a:p>
        </p:txBody>
      </p:sp>
      <p:sp>
        <p:nvSpPr>
          <p:cNvPr id="163" name="CustBody"/>
          <p:cNvSpPr txBox="1"/>
          <p:nvPr/>
        </p:nvSpPr>
        <p:spPr>
          <a:xfrm>
            <a:off x="700000" y="2400000"/>
            <a:ext cx="5000000" cy="3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1500" b="1" dirty="0">
                <a:solidFill>
                  <a:srgbClr val="2D3436"/>
                </a:solidFill>
                <a:latin typeface="Calibri"/>
              </a:rPr>
              <a:t>1. Register a new account</a:t>
            </a:r>
          </a:p>
          <a:p>
            <a:pPr algn="l">
              <a:spcBef>
                <a:spcPts val="320"/>
              </a:spcBef>
              <a:buNone/>
            </a:pPr>
            <a:r>
              <a:rPr lang="en-US" sz="1500" b="1" dirty="0">
                <a:solidFill>
                  <a:srgbClr val="2D3436"/>
                </a:solidFill>
                <a:latin typeface="Calibri"/>
              </a:rPr>
              <a:t>2. Login -&gt; customer home</a:t>
            </a:r>
          </a:p>
          <a:p>
            <a:pPr algn="l">
              <a:spcBef>
                <a:spcPts val="320"/>
              </a:spcBef>
              <a:buNone/>
            </a:pPr>
            <a:r>
              <a:rPr lang="en-US" sz="1500" b="1" dirty="0">
                <a:solidFill>
                  <a:srgbClr val="2D3436"/>
                </a:solidFill>
                <a:latin typeface="Calibri"/>
              </a:rPr>
              <a:t>3. Browse catalogue, search 'rice'</a:t>
            </a:r>
          </a:p>
          <a:p>
            <a:pPr algn="l">
              <a:spcBef>
                <a:spcPts val="320"/>
              </a:spcBef>
              <a:buNone/>
            </a:pPr>
            <a:r>
              <a:rPr lang="en-US" sz="1500" b="1" dirty="0">
                <a:solidFill>
                  <a:srgbClr val="2D3436"/>
                </a:solidFill>
                <a:latin typeface="Calibri"/>
              </a:rPr>
              <a:t>4. Add 2 products to cart, change qty</a:t>
            </a:r>
          </a:p>
          <a:p>
            <a:pPr algn="l">
              <a:spcBef>
                <a:spcPts val="320"/>
              </a:spcBef>
              <a:buNone/>
            </a:pPr>
            <a:r>
              <a:rPr lang="en-US" sz="1500" b="1" dirty="0">
                <a:solidFill>
                  <a:srgbClr val="FF7043"/>
                </a:solidFill>
                <a:latin typeface="Calibri"/>
              </a:rPr>
              <a:t>5. Click 'Proceed to Payment'</a:t>
            </a:r>
          </a:p>
          <a:p>
            <a:pPr algn="l">
              <a:spcBef>
                <a:spcPts val="320"/>
              </a:spcBef>
              <a:buNone/>
            </a:pPr>
            <a:r>
              <a:rPr lang="en-US" sz="1500" b="1" dirty="0">
                <a:solidFill>
                  <a:srgbClr val="FF7043"/>
                </a:solidFill>
                <a:latin typeface="Calibri"/>
              </a:rPr>
              <a:t>6. Pick payment method (COD / UPI / Card)</a:t>
            </a:r>
          </a:p>
          <a:p>
            <a:pPr algn="l">
              <a:spcBef>
                <a:spcPts val="320"/>
              </a:spcBef>
              <a:buNone/>
            </a:pPr>
            <a:r>
              <a:rPr lang="en-US" sz="1500" b="1" dirty="0">
                <a:solidFill>
                  <a:srgbClr val="2D3436"/>
                </a:solidFill>
                <a:latin typeface="Calibri"/>
              </a:rPr>
              <a:t>7. Order confirmation with receipt</a:t>
            </a:r>
          </a:p>
          <a:p>
            <a:pPr algn="l">
              <a:spcBef>
                <a:spcPts val="320"/>
              </a:spcBef>
              <a:buNone/>
            </a:pPr>
            <a:r>
              <a:rPr lang="en-US" sz="1500" b="1" dirty="0">
                <a:solidFill>
                  <a:srgbClr val="2D3436"/>
                </a:solidFill>
                <a:latin typeface="Calibri"/>
              </a:rPr>
              <a:t>8. View My Orders, update profile</a:t>
            </a:r>
          </a:p>
          <a:p>
            <a:pPr algn="l">
              <a:spcBef>
                <a:spcPts val="320"/>
              </a:spcBef>
              <a:buNone/>
            </a:pPr>
            <a:r>
              <a:rPr lang="en-US" sz="1500" b="1" dirty="0">
                <a:solidFill>
                  <a:srgbClr val="1B5E20"/>
                </a:solidFill>
                <a:latin typeface="Calibri"/>
              </a:rPr>
              <a:t>9. Logout - paste customer URL -&gt; bounced (security)</a:t>
            </a:r>
          </a:p>
        </p:txBody>
      </p:sp>
      <p:sp>
        <p:nvSpPr>
          <p:cNvPr id="170" name="Card"/>
          <p:cNvSpPr/>
          <p:nvPr/>
        </p:nvSpPr>
        <p:spPr>
          <a:xfrm>
            <a:off x="6300000" y="1700000"/>
            <a:ext cx="5400000" cy="4400000"/>
          </a:xfrm>
          <a:prstGeom prst="rect">
            <a:avLst/>
          </a:prstGeom>
          <a:solidFill>
            <a:srgbClr val="FFFFFF"/>
          </a:solidFill>
          <a:ln w="0">
            <a:solidFill>
              <a:srgbClr val="E8F5E9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71" name="CardTop"/>
          <p:cNvSpPr/>
          <p:nvPr/>
        </p:nvSpPr>
        <p:spPr>
          <a:xfrm>
            <a:off x="6300000" y="1700000"/>
            <a:ext cx="5400000" cy="80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72" name="AdmTitle"/>
          <p:cNvSpPr txBox="1"/>
          <p:nvPr/>
        </p:nvSpPr>
        <p:spPr>
          <a:xfrm>
            <a:off x="6500000" y="1850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2400" b="1" dirty="0">
                <a:solidFill>
                  <a:srgbClr val="FF7043"/>
                </a:solidFill>
                <a:latin typeface="Calibri"/>
              </a:rPr>
              <a:t>Admin Journey</a:t>
            </a:r>
          </a:p>
        </p:txBody>
      </p:sp>
      <p:sp>
        <p:nvSpPr>
          <p:cNvPr id="173" name="AdmBody"/>
          <p:cNvSpPr txBox="1"/>
          <p:nvPr/>
        </p:nvSpPr>
        <p:spPr>
          <a:xfrm>
            <a:off x="6500000" y="2400000"/>
            <a:ext cx="5000000" cy="3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1500" b="1" dirty="0">
                <a:solidFill>
                  <a:srgbClr val="2D3436"/>
                </a:solidFill>
                <a:latin typeface="Calibri"/>
              </a:rPr>
              <a:t>1. Sign in as root@grocery.local / root</a:t>
            </a:r>
          </a:p>
          <a:p>
            <a:pPr algn="l">
              <a:spcBef>
                <a:spcPts val="380"/>
              </a:spcBef>
              <a:buNone/>
            </a:pPr>
            <a:r>
              <a:rPr lang="en-US" sz="1500" b="1" dirty="0">
                <a:solidFill>
                  <a:srgbClr val="2D3436"/>
                </a:solidFill>
                <a:latin typeface="Calibri"/>
              </a:rPr>
              <a:t>2. Bulk Upload -&gt; sample CSV (40 products)</a:t>
            </a:r>
          </a:p>
          <a:p>
            <a:pPr algn="l">
              <a:spcBef>
                <a:spcPts val="380"/>
              </a:spcBef>
              <a:buNone/>
            </a:pPr>
            <a:r>
              <a:rPr lang="en-US" sz="1500" b="1" dirty="0">
                <a:solidFill>
                  <a:srgbClr val="2D3436"/>
                </a:solidFill>
                <a:latin typeface="Calibri"/>
              </a:rPr>
              <a:t>3. '40 product(s) imported successfully'</a:t>
            </a:r>
          </a:p>
          <a:p>
            <a:pPr algn="l">
              <a:spcBef>
                <a:spcPts val="380"/>
              </a:spcBef>
              <a:buNone/>
            </a:pPr>
            <a:r>
              <a:rPr lang="en-US" sz="1500" b="1" dirty="0">
                <a:solidFill>
                  <a:srgbClr val="2D3436"/>
                </a:solidFill>
                <a:latin typeface="Calibri"/>
              </a:rPr>
              <a:t>4. Open Product Info table - Update / Delete</a:t>
            </a:r>
          </a:p>
          <a:p>
            <a:pPr algn="l">
              <a:spcBef>
                <a:spcPts val="380"/>
              </a:spcBef>
              <a:buNone/>
            </a:pPr>
            <a:r>
              <a:rPr lang="en-US" sz="1500" b="1" dirty="0">
                <a:solidFill>
                  <a:srgbClr val="2D3436"/>
                </a:solidFill>
                <a:latin typeface="Calibri"/>
              </a:rPr>
              <a:t>5. Edit one row - change price 120 -&gt; 150</a:t>
            </a:r>
          </a:p>
          <a:p>
            <a:pPr algn="l">
              <a:spcBef>
                <a:spcPts val="380"/>
              </a:spcBef>
              <a:buNone/>
            </a:pPr>
            <a:r>
              <a:rPr lang="en-US" sz="1500" b="1" dirty="0">
                <a:solidFill>
                  <a:srgbClr val="2D3436"/>
                </a:solidFill>
                <a:latin typeface="Calibri"/>
              </a:rPr>
              <a:t>6. Show 'Add Admin' form briefly</a:t>
            </a:r>
          </a:p>
          <a:p>
            <a:pPr algn="l">
              <a:spcBef>
                <a:spcPts val="380"/>
              </a:spcBef>
              <a:buNone/>
            </a:pPr>
            <a:r>
              <a:rPr lang="en-US" sz="1500" b="1" dirty="0">
                <a:solidFill>
                  <a:srgbClr val="2D3436"/>
                </a:solidFill>
                <a:latin typeface="Calibri"/>
              </a:rPr>
              <a:t>7. Show stock decremented after a sale</a:t>
            </a:r>
          </a:p>
        </p:txBody>
      </p:sp>
      <p:sp>
        <p:nvSpPr>
          <p:cNvPr id="996" name="FooterBar"/>
          <p:cNvSpPr/>
          <p:nvPr/>
        </p:nvSpPr>
        <p:spPr>
          <a:xfrm>
            <a:off x="0" y="6778000"/>
            <a:ext cx="12192000" cy="8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98" name="Footer"/>
          <p:cNvSpPr txBox="1"/>
          <p:nvPr/>
        </p:nvSpPr>
        <p:spPr>
          <a:xfrm>
            <a:off x="500000" y="6378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r">
              <a:buNone/>
            </a:pPr>
            <a:r>
              <a:rPr lang="en-US" sz="1100" dirty="0">
                <a:solidFill>
                  <a:srgbClr val="636E72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1"/>
          <p:cNvSpPr/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" name="AccentBar2"/>
          <p:cNvSpPr/>
          <p:nvPr/>
        </p:nvSpPr>
        <p:spPr>
          <a:xfrm>
            <a:off x="0" y="200000"/>
            <a:ext cx="12192000" cy="80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AccentBar3"/>
          <p:cNvSpPr/>
          <p:nvPr/>
        </p:nvSpPr>
        <p:spPr>
          <a:xfrm>
            <a:off x="0" y="280000"/>
            <a:ext cx="12192000" cy="4000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500000" y="500000"/>
            <a:ext cx="112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3600" b="1" dirty="0">
                <a:solidFill>
                  <a:srgbClr val="1B5E20"/>
                </a:solidFill>
                <a:latin typeface="Calibri"/>
              </a:rPr>
              <a:t>Quality, Security &amp; Testing</a:t>
            </a:r>
          </a:p>
        </p:txBody>
      </p:sp>
      <p:sp>
        <p:nvSpPr>
          <p:cNvPr id="200" name="Card"/>
          <p:cNvSpPr/>
          <p:nvPr/>
        </p:nvSpPr>
        <p:spPr>
          <a:xfrm>
            <a:off x="500000" y="1700000"/>
            <a:ext cx="3500000" cy="4400000"/>
          </a:xfrm>
          <a:prstGeom prst="rect">
            <a:avLst/>
          </a:prstGeom>
          <a:solidFill>
            <a:srgbClr val="FFFFFF"/>
          </a:solidFill>
          <a:ln w="0">
            <a:solidFill>
              <a:srgbClr val="E8F5E9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01" name="CardTop"/>
          <p:cNvSpPr/>
          <p:nvPr/>
        </p:nvSpPr>
        <p:spPr>
          <a:xfrm>
            <a:off x="500000" y="1700000"/>
            <a:ext cx="3500000" cy="8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02" name="TSecurity"/>
          <p:cNvSpPr txBox="1"/>
          <p:nvPr/>
        </p:nvSpPr>
        <p:spPr>
          <a:xfrm>
            <a:off x="700000" y="1850000"/>
            <a:ext cx="31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2200" b="1" dirty="0">
                <a:solidFill>
                  <a:srgbClr val="1B5E20"/>
                </a:solidFill>
                <a:latin typeface="Calibri"/>
              </a:rPr>
              <a:t>Security</a:t>
            </a:r>
          </a:p>
        </p:txBody>
      </p:sp>
      <p:sp>
        <p:nvSpPr>
          <p:cNvPr id="203" name="BSecurity"/>
          <p:cNvSpPr txBox="1"/>
          <p:nvPr/>
        </p:nvSpPr>
        <p:spPr>
          <a:xfrm>
            <a:off x="700000" y="2400000"/>
            <a:ext cx="3100000" cy="3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 indent="-228600" marL="228600"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SHA-256 hashed passwords (never plaintext)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HttpOnly session cookies (no JS access)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Role-based access via AuthFilter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Logout invalidates session + clears cookies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Cache-Control: no-store stops back-button replay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Soft-delete preserves audit trail</a:t>
            </a:r>
          </a:p>
        </p:txBody>
      </p:sp>
      <p:sp>
        <p:nvSpPr>
          <p:cNvPr id="204" name="Card"/>
          <p:cNvSpPr/>
          <p:nvPr/>
        </p:nvSpPr>
        <p:spPr>
          <a:xfrm>
            <a:off x="4296000" y="1700000"/>
            <a:ext cx="3500000" cy="4400000"/>
          </a:xfrm>
          <a:prstGeom prst="rect">
            <a:avLst/>
          </a:prstGeom>
          <a:solidFill>
            <a:srgbClr val="FFFFFF"/>
          </a:solidFill>
          <a:ln w="0">
            <a:solidFill>
              <a:srgbClr val="E8F5E9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05" name="CardTop"/>
          <p:cNvSpPr/>
          <p:nvPr/>
        </p:nvSpPr>
        <p:spPr>
          <a:xfrm>
            <a:off x="4296000" y="1700000"/>
            <a:ext cx="3500000" cy="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06" name="TValidation"/>
          <p:cNvSpPr txBox="1"/>
          <p:nvPr/>
        </p:nvSpPr>
        <p:spPr>
          <a:xfrm>
            <a:off x="4496000" y="1850000"/>
            <a:ext cx="31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2200" b="1" dirty="0">
                <a:solidFill>
                  <a:srgbClr val="2E7D32"/>
                </a:solidFill>
                <a:latin typeface="Calibri"/>
              </a:rPr>
              <a:t>Validation</a:t>
            </a:r>
          </a:p>
        </p:txBody>
      </p:sp>
      <p:sp>
        <p:nvSpPr>
          <p:cNvPr id="207" name="BValidation"/>
          <p:cNvSpPr txBox="1"/>
          <p:nvPr/>
        </p:nvSpPr>
        <p:spPr>
          <a:xfrm>
            <a:off x="4496000" y="2400000"/>
            <a:ext cx="3100000" cy="3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 indent="-228600" marL="228600"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Email format checked client + server side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Price &lt;= 100,000 enforced at form, app, and DB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Required fields rejected with friendly errors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Bulk CSV is one transaction - bad row rolls back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Stock checked before every order placement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Foreign keys prevent orphan records</a:t>
            </a:r>
          </a:p>
        </p:txBody>
      </p:sp>
      <p:sp>
        <p:nvSpPr>
          <p:cNvPr id="208" name="Card"/>
          <p:cNvSpPr/>
          <p:nvPr/>
        </p:nvSpPr>
        <p:spPr>
          <a:xfrm>
            <a:off x="8092000" y="1700000"/>
            <a:ext cx="3500000" cy="4400000"/>
          </a:xfrm>
          <a:prstGeom prst="rect">
            <a:avLst/>
          </a:prstGeom>
          <a:solidFill>
            <a:srgbClr val="FFFFFF"/>
          </a:solidFill>
          <a:ln w="0">
            <a:solidFill>
              <a:srgbClr val="E8F5E9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09" name="CardTop"/>
          <p:cNvSpPr/>
          <p:nvPr/>
        </p:nvSpPr>
        <p:spPr>
          <a:xfrm>
            <a:off x="8092000" y="1700000"/>
            <a:ext cx="3500000" cy="80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10" name="TTesting"/>
          <p:cNvSpPr txBox="1"/>
          <p:nvPr/>
        </p:nvSpPr>
        <p:spPr>
          <a:xfrm>
            <a:off x="8292000" y="1850000"/>
            <a:ext cx="31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2200" b="1" dirty="0">
                <a:solidFill>
                  <a:srgbClr val="FF7043"/>
                </a:solidFill>
                <a:latin typeface="Calibri"/>
              </a:rPr>
              <a:t>Testing</a:t>
            </a:r>
          </a:p>
        </p:txBody>
      </p:sp>
      <p:sp>
        <p:nvSpPr>
          <p:cNvPr id="211" name="BTesting"/>
          <p:cNvSpPr txBox="1"/>
          <p:nvPr/>
        </p:nvSpPr>
        <p:spPr>
          <a:xfrm>
            <a:off x="8292000" y="2400000"/>
            <a:ext cx="3100000" cy="3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 indent="-228600" marL="228600"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66 documented test cases (TestCases.md / .csv)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58 functional + 8 integration scenarios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Mapped to every user story (US001-US013 + 5 web)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Positive AND negative cases for each story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Defect-log template included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Tester / reviewer sign-off section</a:t>
            </a:r>
          </a:p>
        </p:txBody>
      </p:sp>
      <p:sp>
        <p:nvSpPr>
          <p:cNvPr id="996" name="FooterBar"/>
          <p:cNvSpPr/>
          <p:nvPr/>
        </p:nvSpPr>
        <p:spPr>
          <a:xfrm>
            <a:off x="0" y="6778000"/>
            <a:ext cx="12192000" cy="8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98" name="Footer"/>
          <p:cNvSpPr txBox="1"/>
          <p:nvPr/>
        </p:nvSpPr>
        <p:spPr>
          <a:xfrm>
            <a:off x="500000" y="6378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r">
              <a:buNone/>
            </a:pPr>
            <a:r>
              <a:rPr lang="en-US" sz="1100" dirty="0">
                <a:solidFill>
                  <a:srgbClr val="636E72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1"/>
          <p:cNvSpPr/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" name="AccentBar2"/>
          <p:cNvSpPr/>
          <p:nvPr/>
        </p:nvSpPr>
        <p:spPr>
          <a:xfrm>
            <a:off x="0" y="200000"/>
            <a:ext cx="12192000" cy="80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AccentBar3"/>
          <p:cNvSpPr/>
          <p:nvPr/>
        </p:nvSpPr>
        <p:spPr>
          <a:xfrm>
            <a:off x="0" y="280000"/>
            <a:ext cx="12192000" cy="4000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500000" y="500000"/>
            <a:ext cx="112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3600" b="1" dirty="0">
                <a:solidFill>
                  <a:srgbClr val="1B5E20"/>
                </a:solidFill>
                <a:latin typeface="Calibri"/>
              </a:rPr>
              <a:t>Why Our Platform Beats the Alternatives</a:t>
            </a:r>
          </a:p>
        </p:txBody>
      </p:sp>
      <p:sp>
        <p:nvSpPr>
          <p:cNvPr id="300" name="H0"/>
          <p:cNvSpPr/>
          <p:nvPr/>
        </p:nvSpPr>
        <p:spPr>
          <a:xfrm>
            <a:off x="500000" y="1700000"/>
            <a:ext cx="2400000" cy="46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01" name="HT0"/>
          <p:cNvSpPr txBox="1"/>
          <p:nvPr/>
        </p:nvSpPr>
        <p:spPr>
          <a:xfrm>
            <a:off x="580000" y="1760000"/>
            <a:ext cx="22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Aspect</a:t>
            </a:r>
          </a:p>
        </p:txBody>
      </p:sp>
      <p:sp>
        <p:nvSpPr>
          <p:cNvPr id="302" name="H1"/>
          <p:cNvSpPr/>
          <p:nvPr/>
        </p:nvSpPr>
        <p:spPr>
          <a:xfrm>
            <a:off x="2900000" y="1700000"/>
            <a:ext cx="3000000" cy="46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03" name="HT1"/>
          <p:cNvSpPr txBox="1"/>
          <p:nvPr/>
        </p:nvSpPr>
        <p:spPr>
          <a:xfrm>
            <a:off x="2980000" y="176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Our Platform</a:t>
            </a:r>
          </a:p>
        </p:txBody>
      </p:sp>
      <p:sp>
        <p:nvSpPr>
          <p:cNvPr id="304" name="H2"/>
          <p:cNvSpPr/>
          <p:nvPr/>
        </p:nvSpPr>
        <p:spPr>
          <a:xfrm>
            <a:off x="5900000" y="1700000"/>
            <a:ext cx="3000000" cy="46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05" name="HT2"/>
          <p:cNvSpPr txBox="1"/>
          <p:nvPr/>
        </p:nvSpPr>
        <p:spPr>
          <a:xfrm>
            <a:off x="5980000" y="176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SaaS (Shopify, etc.)</a:t>
            </a:r>
          </a:p>
        </p:txBody>
      </p:sp>
      <p:sp>
        <p:nvSpPr>
          <p:cNvPr id="306" name="H3"/>
          <p:cNvSpPr/>
          <p:nvPr/>
        </p:nvSpPr>
        <p:spPr>
          <a:xfrm>
            <a:off x="8900000" y="1700000"/>
            <a:ext cx="2800000" cy="46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07" name="HT3"/>
          <p:cNvSpPr txBox="1"/>
          <p:nvPr/>
        </p:nvSpPr>
        <p:spPr>
          <a:xfrm>
            <a:off x="8980000" y="1760000"/>
            <a:ext cx="26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WordPress + Plugin</a:t>
            </a:r>
          </a:p>
        </p:txBody>
      </p:sp>
      <p:sp>
        <p:nvSpPr>
          <p:cNvPr id="308" name="R1C0"/>
          <p:cNvSpPr/>
          <p:nvPr/>
        </p:nvSpPr>
        <p:spPr>
          <a:xfrm>
            <a:off x="500000" y="2160000"/>
            <a:ext cx="2400000" cy="460000"/>
          </a:xfrm>
          <a:prstGeom prst="rect">
            <a:avLst/>
          </a:prstGeom>
          <a:solidFill>
            <a:srgbClr val="FFFFFF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09" name="RT1C0"/>
          <p:cNvSpPr txBox="1"/>
          <p:nvPr/>
        </p:nvSpPr>
        <p:spPr>
          <a:xfrm>
            <a:off x="580000" y="2220000"/>
            <a:ext cx="22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b="1" dirty="0">
                <a:solidFill>
                  <a:srgbClr val="2D3436"/>
                </a:solidFill>
                <a:latin typeface="Calibri"/>
              </a:rPr>
              <a:t>Per-sale fee</a:t>
            </a:r>
          </a:p>
        </p:txBody>
      </p:sp>
      <p:sp>
        <p:nvSpPr>
          <p:cNvPr id="310" name="R1C1"/>
          <p:cNvSpPr/>
          <p:nvPr/>
        </p:nvSpPr>
        <p:spPr>
          <a:xfrm>
            <a:off x="2900000" y="2160000"/>
            <a:ext cx="3000000" cy="460000"/>
          </a:xfrm>
          <a:prstGeom prst="rect">
            <a:avLst/>
          </a:prstGeom>
          <a:solidFill>
            <a:srgbClr val="FFFFFF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11" name="RT1C1"/>
          <p:cNvSpPr txBox="1"/>
          <p:nvPr/>
        </p:nvSpPr>
        <p:spPr>
          <a:xfrm>
            <a:off x="2980000" y="222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/>
              </a:rPr>
              <a:t>Zero</a:t>
            </a:r>
          </a:p>
        </p:txBody>
      </p:sp>
      <p:sp>
        <p:nvSpPr>
          <p:cNvPr id="312" name="R1C2"/>
          <p:cNvSpPr/>
          <p:nvPr/>
        </p:nvSpPr>
        <p:spPr>
          <a:xfrm>
            <a:off x="5900000" y="2160000"/>
            <a:ext cx="3000000" cy="460000"/>
          </a:xfrm>
          <a:prstGeom prst="rect">
            <a:avLst/>
          </a:prstGeom>
          <a:solidFill>
            <a:srgbClr val="FFFFFF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13" name="RT1C2"/>
          <p:cNvSpPr txBox="1"/>
          <p:nvPr/>
        </p:nvSpPr>
        <p:spPr>
          <a:xfrm>
            <a:off x="5980000" y="222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dirty="0">
                <a:solidFill>
                  <a:srgbClr val="2D3436"/>
                </a:solidFill>
                <a:latin typeface="Calibri"/>
              </a:rPr>
              <a:t>1.5-2.9% per sale</a:t>
            </a:r>
          </a:p>
        </p:txBody>
      </p:sp>
      <p:sp>
        <p:nvSpPr>
          <p:cNvPr id="314" name="R1C3"/>
          <p:cNvSpPr/>
          <p:nvPr/>
        </p:nvSpPr>
        <p:spPr>
          <a:xfrm>
            <a:off x="8900000" y="2160000"/>
            <a:ext cx="2800000" cy="460000"/>
          </a:xfrm>
          <a:prstGeom prst="rect">
            <a:avLst/>
          </a:prstGeom>
          <a:solidFill>
            <a:srgbClr val="FFFFFF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15" name="RT1C3"/>
          <p:cNvSpPr txBox="1"/>
          <p:nvPr/>
        </p:nvSpPr>
        <p:spPr>
          <a:xfrm>
            <a:off x="8980000" y="2220000"/>
            <a:ext cx="26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dirty="0">
                <a:solidFill>
                  <a:srgbClr val="2D3436"/>
                </a:solidFill>
                <a:latin typeface="Calibri"/>
              </a:rPr>
              <a:t>Plugin licensing</a:t>
            </a:r>
          </a:p>
        </p:txBody>
      </p:sp>
      <p:sp>
        <p:nvSpPr>
          <p:cNvPr id="316" name="R2C0"/>
          <p:cNvSpPr/>
          <p:nvPr/>
        </p:nvSpPr>
        <p:spPr>
          <a:xfrm>
            <a:off x="500000" y="2620000"/>
            <a:ext cx="2400000" cy="460000"/>
          </a:xfrm>
          <a:prstGeom prst="rect">
            <a:avLst/>
          </a:prstGeom>
          <a:solidFill>
            <a:srgbClr val="E8F5E9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17" name="RT2C0"/>
          <p:cNvSpPr txBox="1"/>
          <p:nvPr/>
        </p:nvSpPr>
        <p:spPr>
          <a:xfrm>
            <a:off x="580000" y="2680000"/>
            <a:ext cx="22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b="1" dirty="0">
                <a:solidFill>
                  <a:srgbClr val="2D3436"/>
                </a:solidFill>
                <a:latin typeface="Calibri"/>
              </a:rPr>
              <a:t>Time to deploy</a:t>
            </a:r>
          </a:p>
        </p:txBody>
      </p:sp>
      <p:sp>
        <p:nvSpPr>
          <p:cNvPr id="318" name="R2C1"/>
          <p:cNvSpPr/>
          <p:nvPr/>
        </p:nvSpPr>
        <p:spPr>
          <a:xfrm>
            <a:off x="2900000" y="2620000"/>
            <a:ext cx="3000000" cy="460000"/>
          </a:xfrm>
          <a:prstGeom prst="rect">
            <a:avLst/>
          </a:prstGeom>
          <a:solidFill>
            <a:srgbClr val="E8F5E9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19" name="RT2C1"/>
          <p:cNvSpPr txBox="1"/>
          <p:nvPr/>
        </p:nvSpPr>
        <p:spPr>
          <a:xfrm>
            <a:off x="2980000" y="268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/>
              </a:rPr>
              <a:t>Hours</a:t>
            </a:r>
          </a:p>
        </p:txBody>
      </p:sp>
      <p:sp>
        <p:nvSpPr>
          <p:cNvPr id="320" name="R2C2"/>
          <p:cNvSpPr/>
          <p:nvPr/>
        </p:nvSpPr>
        <p:spPr>
          <a:xfrm>
            <a:off x="5900000" y="2620000"/>
            <a:ext cx="3000000" cy="460000"/>
          </a:xfrm>
          <a:prstGeom prst="rect">
            <a:avLst/>
          </a:prstGeom>
          <a:solidFill>
            <a:srgbClr val="E8F5E9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21" name="RT2C2"/>
          <p:cNvSpPr txBox="1"/>
          <p:nvPr/>
        </p:nvSpPr>
        <p:spPr>
          <a:xfrm>
            <a:off x="5980000" y="268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dirty="0">
                <a:solidFill>
                  <a:srgbClr val="2D3436"/>
                </a:solidFill>
                <a:latin typeface="Calibri"/>
              </a:rPr>
              <a:t>Days</a:t>
            </a:r>
          </a:p>
        </p:txBody>
      </p:sp>
      <p:sp>
        <p:nvSpPr>
          <p:cNvPr id="322" name="R2C3"/>
          <p:cNvSpPr/>
          <p:nvPr/>
        </p:nvSpPr>
        <p:spPr>
          <a:xfrm>
            <a:off x="8900000" y="2620000"/>
            <a:ext cx="2800000" cy="460000"/>
          </a:xfrm>
          <a:prstGeom prst="rect">
            <a:avLst/>
          </a:prstGeom>
          <a:solidFill>
            <a:srgbClr val="E8F5E9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23" name="RT2C3"/>
          <p:cNvSpPr txBox="1"/>
          <p:nvPr/>
        </p:nvSpPr>
        <p:spPr>
          <a:xfrm>
            <a:off x="8980000" y="2680000"/>
            <a:ext cx="26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dirty="0">
                <a:solidFill>
                  <a:srgbClr val="2D3436"/>
                </a:solidFill>
                <a:latin typeface="Calibri"/>
              </a:rPr>
              <a:t>Days (plugin pain)</a:t>
            </a:r>
          </a:p>
        </p:txBody>
      </p:sp>
      <p:sp>
        <p:nvSpPr>
          <p:cNvPr id="324" name="R3C0"/>
          <p:cNvSpPr/>
          <p:nvPr/>
        </p:nvSpPr>
        <p:spPr>
          <a:xfrm>
            <a:off x="500000" y="3080000"/>
            <a:ext cx="2400000" cy="460000"/>
          </a:xfrm>
          <a:prstGeom prst="rect">
            <a:avLst/>
          </a:prstGeom>
          <a:solidFill>
            <a:srgbClr val="FFFFFF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25" name="RT3C0"/>
          <p:cNvSpPr txBox="1"/>
          <p:nvPr/>
        </p:nvSpPr>
        <p:spPr>
          <a:xfrm>
            <a:off x="580000" y="3140000"/>
            <a:ext cx="22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b="1" dirty="0">
                <a:solidFill>
                  <a:srgbClr val="2D3436"/>
                </a:solidFill>
                <a:latin typeface="Calibri"/>
              </a:rPr>
              <a:t>Hosting footprint</a:t>
            </a:r>
          </a:p>
        </p:txBody>
      </p:sp>
      <p:sp>
        <p:nvSpPr>
          <p:cNvPr id="326" name="R3C1"/>
          <p:cNvSpPr/>
          <p:nvPr/>
        </p:nvSpPr>
        <p:spPr>
          <a:xfrm>
            <a:off x="2900000" y="3080000"/>
            <a:ext cx="3000000" cy="460000"/>
          </a:xfrm>
          <a:prstGeom prst="rect">
            <a:avLst/>
          </a:prstGeom>
          <a:solidFill>
            <a:srgbClr val="FFFFFF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27" name="RT3C1"/>
          <p:cNvSpPr txBox="1"/>
          <p:nvPr/>
        </p:nvSpPr>
        <p:spPr>
          <a:xfrm>
            <a:off x="2980000" y="314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/>
              </a:rPr>
              <a:t>Pi-class machine</a:t>
            </a:r>
          </a:p>
        </p:txBody>
      </p:sp>
      <p:sp>
        <p:nvSpPr>
          <p:cNvPr id="328" name="R3C2"/>
          <p:cNvSpPr/>
          <p:nvPr/>
        </p:nvSpPr>
        <p:spPr>
          <a:xfrm>
            <a:off x="5900000" y="3080000"/>
            <a:ext cx="3000000" cy="460000"/>
          </a:xfrm>
          <a:prstGeom prst="rect">
            <a:avLst/>
          </a:prstGeom>
          <a:solidFill>
            <a:srgbClr val="FFFFFF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29" name="RT3C2"/>
          <p:cNvSpPr txBox="1"/>
          <p:nvPr/>
        </p:nvSpPr>
        <p:spPr>
          <a:xfrm>
            <a:off x="5980000" y="314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dirty="0">
                <a:solidFill>
                  <a:srgbClr val="2D3436"/>
                </a:solidFill>
                <a:latin typeface="Calibri"/>
              </a:rPr>
              <a:t>Vendor cloud only</a:t>
            </a:r>
          </a:p>
        </p:txBody>
      </p:sp>
      <p:sp>
        <p:nvSpPr>
          <p:cNvPr id="330" name="R3C3"/>
          <p:cNvSpPr/>
          <p:nvPr/>
        </p:nvSpPr>
        <p:spPr>
          <a:xfrm>
            <a:off x="8900000" y="3080000"/>
            <a:ext cx="2800000" cy="460000"/>
          </a:xfrm>
          <a:prstGeom prst="rect">
            <a:avLst/>
          </a:prstGeom>
          <a:solidFill>
            <a:srgbClr val="FFFFFF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31" name="RT3C3"/>
          <p:cNvSpPr txBox="1"/>
          <p:nvPr/>
        </p:nvSpPr>
        <p:spPr>
          <a:xfrm>
            <a:off x="8980000" y="3140000"/>
            <a:ext cx="26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dirty="0">
                <a:solidFill>
                  <a:srgbClr val="2D3436"/>
                </a:solidFill>
                <a:latin typeface="Calibri"/>
              </a:rPr>
              <a:t>1 GB+ PHP / MySQL</a:t>
            </a:r>
          </a:p>
        </p:txBody>
      </p:sp>
      <p:sp>
        <p:nvSpPr>
          <p:cNvPr id="332" name="R4C0"/>
          <p:cNvSpPr/>
          <p:nvPr/>
        </p:nvSpPr>
        <p:spPr>
          <a:xfrm>
            <a:off x="500000" y="3540000"/>
            <a:ext cx="2400000" cy="460000"/>
          </a:xfrm>
          <a:prstGeom prst="rect">
            <a:avLst/>
          </a:prstGeom>
          <a:solidFill>
            <a:srgbClr val="E8F5E9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33" name="RT4C0"/>
          <p:cNvSpPr txBox="1"/>
          <p:nvPr/>
        </p:nvSpPr>
        <p:spPr>
          <a:xfrm>
            <a:off x="580000" y="3600000"/>
            <a:ext cx="22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b="1" dirty="0">
                <a:solidFill>
                  <a:srgbClr val="2D3436"/>
                </a:solidFill>
                <a:latin typeface="Calibri"/>
              </a:rPr>
              <a:t>Data ownership</a:t>
            </a:r>
          </a:p>
        </p:txBody>
      </p:sp>
      <p:sp>
        <p:nvSpPr>
          <p:cNvPr id="334" name="R4C1"/>
          <p:cNvSpPr/>
          <p:nvPr/>
        </p:nvSpPr>
        <p:spPr>
          <a:xfrm>
            <a:off x="2900000" y="3540000"/>
            <a:ext cx="3000000" cy="460000"/>
          </a:xfrm>
          <a:prstGeom prst="rect">
            <a:avLst/>
          </a:prstGeom>
          <a:solidFill>
            <a:srgbClr val="E8F5E9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35" name="RT4C1"/>
          <p:cNvSpPr txBox="1"/>
          <p:nvPr/>
        </p:nvSpPr>
        <p:spPr>
          <a:xfrm>
            <a:off x="2980000" y="360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/>
              </a:rPr>
              <a:t>100% (one DB file)</a:t>
            </a:r>
          </a:p>
        </p:txBody>
      </p:sp>
      <p:sp>
        <p:nvSpPr>
          <p:cNvPr id="336" name="R4C2"/>
          <p:cNvSpPr/>
          <p:nvPr/>
        </p:nvSpPr>
        <p:spPr>
          <a:xfrm>
            <a:off x="5900000" y="3540000"/>
            <a:ext cx="3000000" cy="460000"/>
          </a:xfrm>
          <a:prstGeom prst="rect">
            <a:avLst/>
          </a:prstGeom>
          <a:solidFill>
            <a:srgbClr val="E8F5E9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37" name="RT4C2"/>
          <p:cNvSpPr txBox="1"/>
          <p:nvPr/>
        </p:nvSpPr>
        <p:spPr>
          <a:xfrm>
            <a:off x="5980000" y="360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dirty="0">
                <a:solidFill>
                  <a:srgbClr val="2D3436"/>
                </a:solidFill>
                <a:latin typeface="Calibri"/>
              </a:rPr>
              <a:t>Vendor cloud</a:t>
            </a:r>
          </a:p>
        </p:txBody>
      </p:sp>
      <p:sp>
        <p:nvSpPr>
          <p:cNvPr id="338" name="R4C3"/>
          <p:cNvSpPr/>
          <p:nvPr/>
        </p:nvSpPr>
        <p:spPr>
          <a:xfrm>
            <a:off x="8900000" y="3540000"/>
            <a:ext cx="2800000" cy="460000"/>
          </a:xfrm>
          <a:prstGeom prst="rect">
            <a:avLst/>
          </a:prstGeom>
          <a:solidFill>
            <a:srgbClr val="E8F5E9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39" name="RT4C3"/>
          <p:cNvSpPr txBox="1"/>
          <p:nvPr/>
        </p:nvSpPr>
        <p:spPr>
          <a:xfrm>
            <a:off x="8980000" y="3600000"/>
            <a:ext cx="26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dirty="0">
                <a:solidFill>
                  <a:srgbClr val="2D3436"/>
                </a:solidFill>
                <a:latin typeface="Calibri"/>
              </a:rPr>
              <a:t>Hosting provider</a:t>
            </a:r>
          </a:p>
        </p:txBody>
      </p:sp>
      <p:sp>
        <p:nvSpPr>
          <p:cNvPr id="340" name="R5C0"/>
          <p:cNvSpPr/>
          <p:nvPr/>
        </p:nvSpPr>
        <p:spPr>
          <a:xfrm>
            <a:off x="500000" y="4000000"/>
            <a:ext cx="2400000" cy="460000"/>
          </a:xfrm>
          <a:prstGeom prst="rect">
            <a:avLst/>
          </a:prstGeom>
          <a:solidFill>
            <a:srgbClr val="FFFFFF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41" name="RT5C0"/>
          <p:cNvSpPr txBox="1"/>
          <p:nvPr/>
        </p:nvSpPr>
        <p:spPr>
          <a:xfrm>
            <a:off x="580000" y="4060000"/>
            <a:ext cx="22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b="1" dirty="0">
                <a:solidFill>
                  <a:srgbClr val="2D3436"/>
                </a:solidFill>
                <a:latin typeface="Calibri"/>
              </a:rPr>
              <a:t>Vendor lock-in</a:t>
            </a:r>
          </a:p>
        </p:txBody>
      </p:sp>
      <p:sp>
        <p:nvSpPr>
          <p:cNvPr id="342" name="R5C1"/>
          <p:cNvSpPr/>
          <p:nvPr/>
        </p:nvSpPr>
        <p:spPr>
          <a:xfrm>
            <a:off x="2900000" y="4000000"/>
            <a:ext cx="3000000" cy="460000"/>
          </a:xfrm>
          <a:prstGeom prst="rect">
            <a:avLst/>
          </a:prstGeom>
          <a:solidFill>
            <a:srgbClr val="FFFFFF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43" name="RT5C1"/>
          <p:cNvSpPr txBox="1"/>
          <p:nvPr/>
        </p:nvSpPr>
        <p:spPr>
          <a:xfrm>
            <a:off x="2980000" y="406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/>
              </a:rPr>
              <a:t>None - pure Java</a:t>
            </a:r>
          </a:p>
        </p:txBody>
      </p:sp>
      <p:sp>
        <p:nvSpPr>
          <p:cNvPr id="344" name="R5C2"/>
          <p:cNvSpPr/>
          <p:nvPr/>
        </p:nvSpPr>
        <p:spPr>
          <a:xfrm>
            <a:off x="5900000" y="4000000"/>
            <a:ext cx="3000000" cy="460000"/>
          </a:xfrm>
          <a:prstGeom prst="rect">
            <a:avLst/>
          </a:prstGeom>
          <a:solidFill>
            <a:srgbClr val="FFFFFF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45" name="RT5C2"/>
          <p:cNvSpPr txBox="1"/>
          <p:nvPr/>
        </p:nvSpPr>
        <p:spPr>
          <a:xfrm>
            <a:off x="5980000" y="406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dirty="0">
                <a:solidFill>
                  <a:srgbClr val="2D3436"/>
                </a:solidFill>
                <a:latin typeface="Calibri"/>
              </a:rPr>
              <a:t>Total</a:t>
            </a:r>
          </a:p>
        </p:txBody>
      </p:sp>
      <p:sp>
        <p:nvSpPr>
          <p:cNvPr id="346" name="R5C3"/>
          <p:cNvSpPr/>
          <p:nvPr/>
        </p:nvSpPr>
        <p:spPr>
          <a:xfrm>
            <a:off x="8900000" y="4000000"/>
            <a:ext cx="2800000" cy="460000"/>
          </a:xfrm>
          <a:prstGeom prst="rect">
            <a:avLst/>
          </a:prstGeom>
          <a:solidFill>
            <a:srgbClr val="FFFFFF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47" name="RT5C3"/>
          <p:cNvSpPr txBox="1"/>
          <p:nvPr/>
        </p:nvSpPr>
        <p:spPr>
          <a:xfrm>
            <a:off x="8980000" y="4060000"/>
            <a:ext cx="26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dirty="0">
                <a:solidFill>
                  <a:srgbClr val="2D3436"/>
                </a:solidFill>
                <a:latin typeface="Calibri"/>
              </a:rPr>
              <a:t>Heavy plugin chain</a:t>
            </a:r>
          </a:p>
        </p:txBody>
      </p:sp>
      <p:sp>
        <p:nvSpPr>
          <p:cNvPr id="348" name="R6C0"/>
          <p:cNvSpPr/>
          <p:nvPr/>
        </p:nvSpPr>
        <p:spPr>
          <a:xfrm>
            <a:off x="500000" y="4460000"/>
            <a:ext cx="2400000" cy="460000"/>
          </a:xfrm>
          <a:prstGeom prst="rect">
            <a:avLst/>
          </a:prstGeom>
          <a:solidFill>
            <a:srgbClr val="E8F5E9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49" name="RT6C0"/>
          <p:cNvSpPr txBox="1"/>
          <p:nvPr/>
        </p:nvSpPr>
        <p:spPr>
          <a:xfrm>
            <a:off x="580000" y="4520000"/>
            <a:ext cx="22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b="1" dirty="0">
                <a:solidFill>
                  <a:srgbClr val="2D3436"/>
                </a:solidFill>
                <a:latin typeface="Calibri"/>
              </a:rPr>
              <a:t>Customisation</a:t>
            </a:r>
          </a:p>
        </p:txBody>
      </p:sp>
      <p:sp>
        <p:nvSpPr>
          <p:cNvPr id="350" name="R6C1"/>
          <p:cNvSpPr/>
          <p:nvPr/>
        </p:nvSpPr>
        <p:spPr>
          <a:xfrm>
            <a:off x="2900000" y="4460000"/>
            <a:ext cx="3000000" cy="460000"/>
          </a:xfrm>
          <a:prstGeom prst="rect">
            <a:avLst/>
          </a:prstGeom>
          <a:solidFill>
            <a:srgbClr val="E8F5E9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51" name="RT6C1"/>
          <p:cNvSpPr txBox="1"/>
          <p:nvPr/>
        </p:nvSpPr>
        <p:spPr>
          <a:xfrm>
            <a:off x="2980000" y="452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/>
              </a:rPr>
              <a:t>Full source code</a:t>
            </a:r>
          </a:p>
        </p:txBody>
      </p:sp>
      <p:sp>
        <p:nvSpPr>
          <p:cNvPr id="352" name="R6C2"/>
          <p:cNvSpPr/>
          <p:nvPr/>
        </p:nvSpPr>
        <p:spPr>
          <a:xfrm>
            <a:off x="5900000" y="4460000"/>
            <a:ext cx="3000000" cy="460000"/>
          </a:xfrm>
          <a:prstGeom prst="rect">
            <a:avLst/>
          </a:prstGeom>
          <a:solidFill>
            <a:srgbClr val="E8F5E9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53" name="RT6C2"/>
          <p:cNvSpPr txBox="1"/>
          <p:nvPr/>
        </p:nvSpPr>
        <p:spPr>
          <a:xfrm>
            <a:off x="5980000" y="452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dirty="0">
                <a:solidFill>
                  <a:srgbClr val="2D3436"/>
                </a:solidFill>
                <a:latin typeface="Calibri"/>
              </a:rPr>
              <a:t>Themes + apps only</a:t>
            </a:r>
          </a:p>
        </p:txBody>
      </p:sp>
      <p:sp>
        <p:nvSpPr>
          <p:cNvPr id="354" name="R6C3"/>
          <p:cNvSpPr/>
          <p:nvPr/>
        </p:nvSpPr>
        <p:spPr>
          <a:xfrm>
            <a:off x="8900000" y="4460000"/>
            <a:ext cx="2800000" cy="460000"/>
          </a:xfrm>
          <a:prstGeom prst="rect">
            <a:avLst/>
          </a:prstGeom>
          <a:solidFill>
            <a:srgbClr val="E8F5E9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55" name="RT6C3"/>
          <p:cNvSpPr txBox="1"/>
          <p:nvPr/>
        </p:nvSpPr>
        <p:spPr>
          <a:xfrm>
            <a:off x="8980000" y="4520000"/>
            <a:ext cx="26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dirty="0">
                <a:solidFill>
                  <a:srgbClr val="2D3436"/>
                </a:solidFill>
                <a:latin typeface="Calibri"/>
              </a:rPr>
              <a:t>Plugin-permitted</a:t>
            </a:r>
          </a:p>
        </p:txBody>
      </p:sp>
      <p:sp>
        <p:nvSpPr>
          <p:cNvPr id="356" name="R7C0"/>
          <p:cNvSpPr/>
          <p:nvPr/>
        </p:nvSpPr>
        <p:spPr>
          <a:xfrm>
            <a:off x="500000" y="4920000"/>
            <a:ext cx="2400000" cy="460000"/>
          </a:xfrm>
          <a:prstGeom prst="rect">
            <a:avLst/>
          </a:prstGeom>
          <a:solidFill>
            <a:srgbClr val="FFFFFF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57" name="RT7C0"/>
          <p:cNvSpPr txBox="1"/>
          <p:nvPr/>
        </p:nvSpPr>
        <p:spPr>
          <a:xfrm>
            <a:off x="580000" y="4980000"/>
            <a:ext cx="22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b="1" dirty="0">
                <a:solidFill>
                  <a:srgbClr val="2D3436"/>
                </a:solidFill>
                <a:latin typeface="Calibri"/>
              </a:rPr>
              <a:t>Grocery features</a:t>
            </a:r>
          </a:p>
        </p:txBody>
      </p:sp>
      <p:sp>
        <p:nvSpPr>
          <p:cNvPr id="358" name="R7C1"/>
          <p:cNvSpPr/>
          <p:nvPr/>
        </p:nvSpPr>
        <p:spPr>
          <a:xfrm>
            <a:off x="2900000" y="4920000"/>
            <a:ext cx="3000000" cy="460000"/>
          </a:xfrm>
          <a:prstGeom prst="rect">
            <a:avLst/>
          </a:prstGeom>
          <a:solidFill>
            <a:srgbClr val="FFFFFF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59" name="RT7C1"/>
          <p:cNvSpPr txBox="1"/>
          <p:nvPr/>
        </p:nvSpPr>
        <p:spPr>
          <a:xfrm>
            <a:off x="2980000" y="498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/>
              </a:rPr>
              <a:t>Built-in</a:t>
            </a:r>
          </a:p>
        </p:txBody>
      </p:sp>
      <p:sp>
        <p:nvSpPr>
          <p:cNvPr id="360" name="R7C2"/>
          <p:cNvSpPr/>
          <p:nvPr/>
        </p:nvSpPr>
        <p:spPr>
          <a:xfrm>
            <a:off x="5900000" y="4920000"/>
            <a:ext cx="3000000" cy="460000"/>
          </a:xfrm>
          <a:prstGeom prst="rect">
            <a:avLst/>
          </a:prstGeom>
          <a:solidFill>
            <a:srgbClr val="FFFFFF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61" name="RT7C2"/>
          <p:cNvSpPr txBox="1"/>
          <p:nvPr/>
        </p:nvSpPr>
        <p:spPr>
          <a:xfrm>
            <a:off x="5980000" y="498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dirty="0">
                <a:solidFill>
                  <a:srgbClr val="2D3436"/>
                </a:solidFill>
                <a:latin typeface="Calibri"/>
              </a:rPr>
              <a:t>Generic e-commerce</a:t>
            </a:r>
          </a:p>
        </p:txBody>
      </p:sp>
      <p:sp>
        <p:nvSpPr>
          <p:cNvPr id="362" name="R7C3"/>
          <p:cNvSpPr/>
          <p:nvPr/>
        </p:nvSpPr>
        <p:spPr>
          <a:xfrm>
            <a:off x="8900000" y="4920000"/>
            <a:ext cx="2800000" cy="460000"/>
          </a:xfrm>
          <a:prstGeom prst="rect">
            <a:avLst/>
          </a:prstGeom>
          <a:solidFill>
            <a:srgbClr val="FFFFFF"/>
          </a:solidFill>
          <a:ln w="0">
            <a:solidFill>
              <a:srgbClr val="636E72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63" name="RT7C3"/>
          <p:cNvSpPr txBox="1"/>
          <p:nvPr/>
        </p:nvSpPr>
        <p:spPr>
          <a:xfrm>
            <a:off x="8980000" y="4980000"/>
            <a:ext cx="2640000" cy="3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tIns="45720" rIns="91440" bIns="45720"/>
          <a:lstStyle/>
          <a:p>
            <a:pPr algn="l">
              <a:buNone/>
            </a:pPr>
            <a:r>
              <a:rPr lang="en-US" sz="1200" dirty="0">
                <a:solidFill>
                  <a:srgbClr val="2D3436"/>
                </a:solidFill>
                <a:latin typeface="Calibri"/>
              </a:rPr>
              <a:t>Generic - many gaps</a:t>
            </a:r>
          </a:p>
        </p:txBody>
      </p:sp>
      <p:sp>
        <p:nvSpPr>
          <p:cNvPr id="900" name="Tagline"/>
          <p:cNvSpPr txBox="1"/>
          <p:nvPr/>
        </p:nvSpPr>
        <p:spPr>
          <a:xfrm>
            <a:off x="500000" y="5800000"/>
            <a:ext cx="112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ctr">
              <a:buNone/>
            </a:pPr>
            <a:r>
              <a:rPr lang="en-US" sz="1500" i="1" dirty="0">
                <a:solidFill>
                  <a:srgbClr val="1B5E20"/>
                </a:solidFill>
                <a:latin typeface="Calibri"/>
              </a:rPr>
              <a:t>Cost predictability + total ownership + grocery-fit features = lower TCO than every market alternative.</a:t>
            </a:r>
          </a:p>
        </p:txBody>
      </p:sp>
      <p:sp>
        <p:nvSpPr>
          <p:cNvPr id="996" name="FooterBar"/>
          <p:cNvSpPr/>
          <p:nvPr/>
        </p:nvSpPr>
        <p:spPr>
          <a:xfrm>
            <a:off x="0" y="6778000"/>
            <a:ext cx="12192000" cy="8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98" name="Footer"/>
          <p:cNvSpPr txBox="1"/>
          <p:nvPr/>
        </p:nvSpPr>
        <p:spPr>
          <a:xfrm>
            <a:off x="500000" y="6378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r">
              <a:buNone/>
            </a:pPr>
            <a:r>
              <a:rPr lang="en-US" sz="1100" dirty="0">
                <a:solidFill>
                  <a:srgbClr val="636E72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1"/>
          <p:cNvSpPr/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" name="AccentBar2"/>
          <p:cNvSpPr/>
          <p:nvPr/>
        </p:nvSpPr>
        <p:spPr>
          <a:xfrm>
            <a:off x="0" y="200000"/>
            <a:ext cx="12192000" cy="80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AccentBar3"/>
          <p:cNvSpPr/>
          <p:nvPr/>
        </p:nvSpPr>
        <p:spPr>
          <a:xfrm>
            <a:off x="0" y="280000"/>
            <a:ext cx="12192000" cy="4000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500000" y="500000"/>
            <a:ext cx="112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3600" b="1" dirty="0">
                <a:solidFill>
                  <a:srgbClr val="1B5E20"/>
                </a:solidFill>
                <a:latin typeface="Calibri"/>
              </a:rPr>
              <a:t>Roadmap &amp; Thank You</a:t>
            </a:r>
          </a:p>
        </p:txBody>
      </p:sp>
      <p:sp>
        <p:nvSpPr>
          <p:cNvPr id="400" name="Card"/>
          <p:cNvSpPr/>
          <p:nvPr/>
        </p:nvSpPr>
        <p:spPr>
          <a:xfrm>
            <a:off x="500000" y="1700000"/>
            <a:ext cx="3500000" cy="3300000"/>
          </a:xfrm>
          <a:prstGeom prst="rect">
            <a:avLst/>
          </a:prstGeom>
          <a:solidFill>
            <a:srgbClr val="FFFFFF"/>
          </a:solidFill>
          <a:ln w="0">
            <a:solidFill>
              <a:srgbClr val="E8F5E9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01" name="CardTop"/>
          <p:cNvSpPr/>
          <p:nvPr/>
        </p:nvSpPr>
        <p:spPr>
          <a:xfrm>
            <a:off x="500000" y="1700000"/>
            <a:ext cx="3500000" cy="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02" name="TSoon"/>
          <p:cNvSpPr txBox="1"/>
          <p:nvPr/>
        </p:nvSpPr>
        <p:spPr>
          <a:xfrm>
            <a:off x="700000" y="1850000"/>
            <a:ext cx="31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1700" b="1" dirty="0">
                <a:solidFill>
                  <a:srgbClr val="2E7D32"/>
                </a:solidFill>
                <a:latin typeface="Calibri"/>
              </a:rPr>
              <a:t>Soon (1-2 sprints)</a:t>
            </a:r>
          </a:p>
        </p:txBody>
      </p:sp>
      <p:sp>
        <p:nvSpPr>
          <p:cNvPr id="403" name="BSoon"/>
          <p:cNvSpPr txBox="1"/>
          <p:nvPr/>
        </p:nvSpPr>
        <p:spPr>
          <a:xfrm>
            <a:off x="700000" y="2400000"/>
            <a:ext cx="3100000" cy="2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 indent="-228600" marL="228600"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Real payment gateway (Razorpay / Stripe / UPI)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Email + SMS order notifications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Replace SHA-256 with bcrypt for passwords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Mobile-PWA polish</a:t>
            </a:r>
          </a:p>
        </p:txBody>
      </p:sp>
      <p:sp>
        <p:nvSpPr>
          <p:cNvPr id="404" name="Card"/>
          <p:cNvSpPr/>
          <p:nvPr/>
        </p:nvSpPr>
        <p:spPr>
          <a:xfrm>
            <a:off x="4296000" y="1700000"/>
            <a:ext cx="3500000" cy="3300000"/>
          </a:xfrm>
          <a:prstGeom prst="rect">
            <a:avLst/>
          </a:prstGeom>
          <a:solidFill>
            <a:srgbClr val="FFFFFF"/>
          </a:solidFill>
          <a:ln w="0">
            <a:solidFill>
              <a:srgbClr val="E8F5E9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05" name="CardTop"/>
          <p:cNvSpPr/>
          <p:nvPr/>
        </p:nvSpPr>
        <p:spPr>
          <a:xfrm>
            <a:off x="4296000" y="1700000"/>
            <a:ext cx="3500000" cy="80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06" name="TMid-"/>
          <p:cNvSpPr txBox="1"/>
          <p:nvPr/>
        </p:nvSpPr>
        <p:spPr>
          <a:xfrm>
            <a:off x="4496000" y="1850000"/>
            <a:ext cx="31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1700" b="1" dirty="0">
                <a:solidFill>
                  <a:srgbClr val="FF7043"/>
                </a:solidFill>
                <a:latin typeface="Calibri"/>
              </a:rPr>
              <a:t>Mid-term (3-6 mo)</a:t>
            </a:r>
          </a:p>
        </p:txBody>
      </p:sp>
      <p:sp>
        <p:nvSpPr>
          <p:cNvPr id="407" name="BMid-"/>
          <p:cNvSpPr txBox="1"/>
          <p:nvPr/>
        </p:nvSpPr>
        <p:spPr>
          <a:xfrm>
            <a:off x="4496000" y="2400000"/>
            <a:ext cx="3100000" cy="2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 indent="-228600" marL="228600"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Multi-store / multi-franchise support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Loyalty + discount engine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REST API layer (mobile-ready)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Migrate to MySQL / PostgreSQL at scale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Admin analytics dashboard</a:t>
            </a:r>
          </a:p>
        </p:txBody>
      </p:sp>
      <p:sp>
        <p:nvSpPr>
          <p:cNvPr id="408" name="Card"/>
          <p:cNvSpPr/>
          <p:nvPr/>
        </p:nvSpPr>
        <p:spPr>
          <a:xfrm>
            <a:off x="8092000" y="1700000"/>
            <a:ext cx="3500000" cy="3300000"/>
          </a:xfrm>
          <a:prstGeom prst="rect">
            <a:avLst/>
          </a:prstGeom>
          <a:solidFill>
            <a:srgbClr val="FFFFFF"/>
          </a:solidFill>
          <a:ln w="0">
            <a:solidFill>
              <a:srgbClr val="E8F5E9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09" name="CardTop"/>
          <p:cNvSpPr/>
          <p:nvPr/>
        </p:nvSpPr>
        <p:spPr>
          <a:xfrm>
            <a:off x="8092000" y="1700000"/>
            <a:ext cx="3500000" cy="8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10" name="TLong"/>
          <p:cNvSpPr txBox="1"/>
          <p:nvPr/>
        </p:nvSpPr>
        <p:spPr>
          <a:xfrm>
            <a:off x="8292000" y="1850000"/>
            <a:ext cx="31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>
              <a:buNone/>
            </a:pPr>
            <a:r>
              <a:rPr lang="en-US" sz="1700" b="1" dirty="0">
                <a:solidFill>
                  <a:srgbClr val="1B5E20"/>
                </a:solidFill>
                <a:latin typeface="Calibri"/>
              </a:rPr>
              <a:t>Long-term</a:t>
            </a:r>
          </a:p>
        </p:txBody>
      </p:sp>
      <p:sp>
        <p:nvSpPr>
          <p:cNvPr id="411" name="BLong"/>
          <p:cNvSpPr txBox="1"/>
          <p:nvPr/>
        </p:nvSpPr>
        <p:spPr>
          <a:xfrm>
            <a:off x="8292000" y="2400000"/>
            <a:ext cx="3100000" cy="2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l" indent="-228600" marL="228600"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Native iOS + Android apps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Recommendation engine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Multi-tenant SaaS deployment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/>
              </a:rPr>
              <a:t>Right-to-be-forgotten (GDPR hard-delete)</a:t>
            </a:r>
          </a:p>
        </p:txBody>
      </p:sp>
      <p:sp>
        <p:nvSpPr>
          <p:cNvPr id="500" name="ClosingBg"/>
          <p:cNvSpPr/>
          <p:nvPr/>
        </p:nvSpPr>
        <p:spPr>
          <a:xfrm>
            <a:off x="500000" y="5200000"/>
            <a:ext cx="11200000" cy="1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01" name="ClosingAcc"/>
          <p:cNvSpPr/>
          <p:nvPr/>
        </p:nvSpPr>
        <p:spPr>
          <a:xfrm>
            <a:off x="500000" y="5200000"/>
            <a:ext cx="60000" cy="1100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02" name="ClosingT"/>
          <p:cNvSpPr txBox="1"/>
          <p:nvPr/>
        </p:nvSpPr>
        <p:spPr>
          <a:xfrm>
            <a:off x="700000" y="5300000"/>
            <a:ext cx="11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ctr">
              <a:buNone/>
            </a:pPr>
            <a:r>
              <a:rPr lang="en-US" sz="1700" b="1" i="1" dirty="0">
                <a:solidFill>
                  <a:srgbClr val="1B5E20"/>
                </a:solidFill>
                <a:latin typeface="Calibri"/>
              </a:rPr>
              <a:t>Built on proven, low-cost, fully-owned technology - purpose-fit for grocery commerce.</a:t>
            </a:r>
          </a:p>
        </p:txBody>
      </p:sp>
      <p:sp>
        <p:nvSpPr>
          <p:cNvPr id="503" name="ClosingQ"/>
          <p:cNvSpPr txBox="1"/>
          <p:nvPr/>
        </p:nvSpPr>
        <p:spPr>
          <a:xfrm>
            <a:off x="700000" y="5800000"/>
            <a:ext cx="11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ctr">
              <a:buNone/>
            </a:pPr>
            <a:r>
              <a:rPr lang="en-US" sz="2400" b="1" dirty="0">
                <a:solidFill>
                  <a:srgbClr val="FF7043"/>
                </a:solidFill>
                <a:latin typeface="Calibri"/>
              </a:rPr>
              <a:t>Thank you - questions?</a:t>
            </a:r>
          </a:p>
        </p:txBody>
      </p:sp>
      <p:sp>
        <p:nvSpPr>
          <p:cNvPr id="996" name="FooterBar"/>
          <p:cNvSpPr/>
          <p:nvPr/>
        </p:nvSpPr>
        <p:spPr>
          <a:xfrm>
            <a:off x="0" y="6778000"/>
            <a:ext cx="12192000" cy="8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98" name="Footer"/>
          <p:cNvSpPr txBox="1"/>
          <p:nvPr/>
        </p:nvSpPr>
        <p:spPr>
          <a:xfrm>
            <a:off x="500000" y="6378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tIns="45720" rIns="91440" bIns="45720"/>
          <a:lstStyle/>
          <a:p>
            <a:pPr algn="r">
              <a:buNone/>
            </a:pPr>
            <a:r>
              <a:rPr lang="en-US" sz="1100" dirty="0">
                <a:solidFill>
                  <a:srgbClr val="636E72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cery Theme">
  <a:themeElements>
    <a:clrScheme name="Grocery">
      <a:dk1>
        <a:srgbClr val="2D3436"/>
      </a:dk1>
      <a:lt1>
        <a:srgbClr val="FFFAF0"/>
      </a:lt1>
      <a:dk2>
        <a:srgbClr val="1B5E20"/>
      </a:dk2>
      <a:lt2>
        <a:srgbClr val="E8F5E9"/>
      </a:lt2>
      <a:accent1>
        <a:srgbClr val="2E7D32"/>
      </a:accent1>
      <a:accent2>
        <a:srgbClr val="43A047"/>
      </a:accent2>
      <a:accent3>
        <a:srgbClr val="66BB6A"/>
      </a:accent3>
      <a:accent4>
        <a:srgbClr val="FF7043"/>
      </a:accent4>
      <a:accent5>
        <a:srgbClr val="FF8A65"/>
      </a:accent5>
      <a:accent6>
        <a:srgbClr val="FDD835"/>
      </a:accent6>
      <a:hlink>
        <a:srgbClr val="2E7D32"/>
      </a:hlink>
      <a:folHlink>
        <a:srgbClr val="1B5E20"/>
      </a:folHlink>
    </a:clrScheme>
    <a:fontScheme name="Groce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Custom Generator</Application>
  <Slides>8</Slides>
  <PresentationFormat>Widescreen</PresentationFormat>
  <Company>Online Grocery Ordering Project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Online Grocery Ordering Platform</dc:title>
  <dc:creator>Team of 6</dc:creator>
  <cp:lastModifiedBy>Team of 6</cp:lastModifiedBy>
  <dcterms:created xsi:type="dcterms:W3CDTF">2026-05-24T14:51:08Z</dcterms:created>
  <dcterms:modified xsi:type="dcterms:W3CDTF">2026-05-24T14:51:08Z</dcterms:modified>
</cp:coreProperties>
</file>